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/>
              <a:t>학습 손실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Data!$B$2:$B$51</c:f>
              <c:numCache>
                <c:formatCode>General</c:formatCode>
                <c:ptCount val="50"/>
                <c:pt idx="0">
                  <c:v>0.67595541477203369</c:v>
                </c:pt>
                <c:pt idx="1">
                  <c:v>0.61890619993209839</c:v>
                </c:pt>
                <c:pt idx="2">
                  <c:v>0.57040822505950928</c:v>
                </c:pt>
                <c:pt idx="3">
                  <c:v>0.52362048625946045</c:v>
                </c:pt>
                <c:pt idx="4">
                  <c:v>0.47775998711585999</c:v>
                </c:pt>
                <c:pt idx="5">
                  <c:v>0.43323186039924622</c:v>
                </c:pt>
                <c:pt idx="6">
                  <c:v>0.39093002676963806</c:v>
                </c:pt>
                <c:pt idx="7">
                  <c:v>0.35158562660217285</c:v>
                </c:pt>
                <c:pt idx="8">
                  <c:v>0.31534549593925476</c:v>
                </c:pt>
                <c:pt idx="9">
                  <c:v>0.28184619545936584</c:v>
                </c:pt>
                <c:pt idx="10">
                  <c:v>0.25094601511955261</c:v>
                </c:pt>
                <c:pt idx="11">
                  <c:v>0.22303846478462219</c:v>
                </c:pt>
                <c:pt idx="12">
                  <c:v>0.19862118363380432</c:v>
                </c:pt>
                <c:pt idx="13">
                  <c:v>0.17783729732036591</c:v>
                </c:pt>
                <c:pt idx="14">
                  <c:v>0.16043251752853394</c:v>
                </c:pt>
                <c:pt idx="15">
                  <c:v>0.1459185928106308</c:v>
                </c:pt>
                <c:pt idx="16">
                  <c:v>0.13373757898807526</c:v>
                </c:pt>
                <c:pt idx="17">
                  <c:v>0.1233767867088318</c:v>
                </c:pt>
                <c:pt idx="18">
                  <c:v>0.1144217774271965</c:v>
                </c:pt>
                <c:pt idx="19">
                  <c:v>0.10656309872865675</c:v>
                </c:pt>
                <c:pt idx="20">
                  <c:v>9.9578753113746643E-2</c:v>
                </c:pt>
                <c:pt idx="21">
                  <c:v>9.3310005962848663E-2</c:v>
                </c:pt>
                <c:pt idx="22">
                  <c:v>8.7640382349491119E-2</c:v>
                </c:pt>
                <c:pt idx="23">
                  <c:v>8.2480475306510925E-2</c:v>
                </c:pt>
                <c:pt idx="24">
                  <c:v>7.7758096158504486E-2</c:v>
                </c:pt>
                <c:pt idx="25">
                  <c:v>7.3412604629993439E-2</c:v>
                </c:pt>
                <c:pt idx="26">
                  <c:v>6.9391936063766479E-2</c:v>
                </c:pt>
                <c:pt idx="27">
                  <c:v>6.5651580691337585E-2</c:v>
                </c:pt>
                <c:pt idx="28">
                  <c:v>6.2154181301593781E-2</c:v>
                </c:pt>
                <c:pt idx="29">
                  <c:v>5.8869346976280212E-2</c:v>
                </c:pt>
                <c:pt idx="30">
                  <c:v>5.5773362517356873E-2</c:v>
                </c:pt>
                <c:pt idx="31">
                  <c:v>5.2848298102617264E-2</c:v>
                </c:pt>
                <c:pt idx="32">
                  <c:v>5.0080884248018265E-2</c:v>
                </c:pt>
                <c:pt idx="33">
                  <c:v>4.7461085021495819E-2</c:v>
                </c:pt>
                <c:pt idx="34">
                  <c:v>4.4980902224779129E-2</c:v>
                </c:pt>
                <c:pt idx="35">
                  <c:v>4.2633514851331711E-2</c:v>
                </c:pt>
                <c:pt idx="36">
                  <c:v>4.0412716567516327E-2</c:v>
                </c:pt>
                <c:pt idx="37">
                  <c:v>3.8312800228595734E-2</c:v>
                </c:pt>
                <c:pt idx="38">
                  <c:v>3.6328371614217758E-2</c:v>
                </c:pt>
                <c:pt idx="39">
                  <c:v>3.4454397857189178E-2</c:v>
                </c:pt>
                <c:pt idx="40">
                  <c:v>3.2686159014701843E-2</c:v>
                </c:pt>
                <c:pt idx="41">
                  <c:v>3.1019199639558792E-2</c:v>
                </c:pt>
                <c:pt idx="42">
                  <c:v>2.9449256137013435E-2</c:v>
                </c:pt>
                <c:pt idx="43">
                  <c:v>2.7972089126706123E-2</c:v>
                </c:pt>
                <c:pt idx="44">
                  <c:v>2.6583313941955566E-2</c:v>
                </c:pt>
                <c:pt idx="45">
                  <c:v>2.5278348475694656E-2</c:v>
                </c:pt>
                <c:pt idx="46">
                  <c:v>2.4052368476986885E-2</c:v>
                </c:pt>
                <c:pt idx="47">
                  <c:v>2.2900441661477089E-2</c:v>
                </c:pt>
                <c:pt idx="48">
                  <c:v>2.1817686036229137E-2</c:v>
                </c:pt>
                <c:pt idx="49">
                  <c:v>2.0799404010176659E-2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727-4683-BD67-B51CCFFB628C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Data!$D$2:$D$51</c:f>
              <c:numCache>
                <c:formatCode>General</c:formatCode>
                <c:ptCount val="50"/>
                <c:pt idx="0">
                  <c:v>0.62944859266281128</c:v>
                </c:pt>
                <c:pt idx="1">
                  <c:v>0.5729641318321228</c:v>
                </c:pt>
                <c:pt idx="2">
                  <c:v>0.52004945278167725</c:v>
                </c:pt>
                <c:pt idx="3">
                  <c:v>0.46944940090179438</c:v>
                </c:pt>
                <c:pt idx="4">
                  <c:v>0.42061403393745422</c:v>
                </c:pt>
                <c:pt idx="5">
                  <c:v>0.37385770678520203</c:v>
                </c:pt>
                <c:pt idx="6">
                  <c:v>0.32992762327194214</c:v>
                </c:pt>
                <c:pt idx="7">
                  <c:v>0.28955665230751038</c:v>
                </c:pt>
                <c:pt idx="8">
                  <c:v>0.25341969728469849</c:v>
                </c:pt>
                <c:pt idx="9">
                  <c:v>0.2219792902469635</c:v>
                </c:pt>
                <c:pt idx="10">
                  <c:v>0.19537213444709775</c:v>
                </c:pt>
                <c:pt idx="11">
                  <c:v>0.17346538603305817</c:v>
                </c:pt>
                <c:pt idx="12">
                  <c:v>0.15584348142147064</c:v>
                </c:pt>
                <c:pt idx="13">
                  <c:v>0.14181579649448395</c:v>
                </c:pt>
                <c:pt idx="14">
                  <c:v>0.13055244088172913</c:v>
                </c:pt>
                <c:pt idx="15">
                  <c:v>0.12125570327043532</c:v>
                </c:pt>
                <c:pt idx="16">
                  <c:v>0.11329029500484468</c:v>
                </c:pt>
                <c:pt idx="17">
                  <c:v>0.10623213648796082</c:v>
                </c:pt>
                <c:pt idx="18">
                  <c:v>9.9836975336074843E-2</c:v>
                </c:pt>
                <c:pt idx="19">
                  <c:v>9.3976289033889757E-2</c:v>
                </c:pt>
                <c:pt idx="20">
                  <c:v>8.8582083582878113E-2</c:v>
                </c:pt>
                <c:pt idx="21">
                  <c:v>8.3611682057380676E-2</c:v>
                </c:pt>
                <c:pt idx="22">
                  <c:v>7.902824878692627E-2</c:v>
                </c:pt>
                <c:pt idx="23">
                  <c:v>7.4792392551898956E-2</c:v>
                </c:pt>
                <c:pt idx="24">
                  <c:v>7.08613321185112E-2</c:v>
                </c:pt>
                <c:pt idx="25">
                  <c:v>6.7191816866397858E-2</c:v>
                </c:pt>
                <c:pt idx="26">
                  <c:v>6.3744083046913147E-2</c:v>
                </c:pt>
                <c:pt idx="27">
                  <c:v>6.0485150665044785E-2</c:v>
                </c:pt>
                <c:pt idx="28">
                  <c:v>5.7390362024307251E-2</c:v>
                </c:pt>
                <c:pt idx="29">
                  <c:v>5.4443422704935074E-2</c:v>
                </c:pt>
                <c:pt idx="30">
                  <c:v>5.1635004580020905E-2</c:v>
                </c:pt>
                <c:pt idx="31">
                  <c:v>4.8960432410240173E-2</c:v>
                </c:pt>
                <c:pt idx="32">
                  <c:v>4.6417225152254105E-2</c:v>
                </c:pt>
                <c:pt idx="33">
                  <c:v>4.4003110378980637E-2</c:v>
                </c:pt>
                <c:pt idx="34">
                  <c:v>4.1714981198310852E-2</c:v>
                </c:pt>
                <c:pt idx="35">
                  <c:v>3.9548695087432861E-2</c:v>
                </c:pt>
                <c:pt idx="36">
                  <c:v>3.7499420344829559E-2</c:v>
                </c:pt>
                <c:pt idx="37">
                  <c:v>3.5562034696340561E-2</c:v>
                </c:pt>
                <c:pt idx="38">
                  <c:v>3.373153880238533E-2</c:v>
                </c:pt>
                <c:pt idx="39">
                  <c:v>3.2003235071897507E-2</c:v>
                </c:pt>
                <c:pt idx="40">
                  <c:v>3.0372859910130501E-2</c:v>
                </c:pt>
                <c:pt idx="41">
                  <c:v>2.8836535289883617E-2</c:v>
                </c:pt>
                <c:pt idx="42">
                  <c:v>2.7390668168663979E-2</c:v>
                </c:pt>
                <c:pt idx="43">
                  <c:v>2.6031669229269028E-2</c:v>
                </c:pt>
                <c:pt idx="44">
                  <c:v>2.4755710735917091E-2</c:v>
                </c:pt>
                <c:pt idx="45">
                  <c:v>2.3558551445603371E-2</c:v>
                </c:pt>
                <c:pt idx="46">
                  <c:v>2.2435516119003296E-2</c:v>
                </c:pt>
                <c:pt idx="47">
                  <c:v>2.1381624042987823E-2</c:v>
                </c:pt>
                <c:pt idx="48">
                  <c:v>2.039187029004097E-2</c:v>
                </c:pt>
                <c:pt idx="49">
                  <c:v>1.9461387768387791E-2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727-4683-BD67-B51CCFFB6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2039663"/>
        <c:axId val="1149093712"/>
      </c:scatterChart>
      <c:valAx>
        <c:axId val="1082039663"/>
        <c:scaling>
          <c:orientation val="minMax"/>
          <c:max val="5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093712"/>
        <c:crosses val="autoZero"/>
        <c:crossBetween val="midCat"/>
      </c:valAx>
      <c:valAx>
        <c:axId val="114909371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20396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/>
              <a:t>Test PR </a:t>
            </a:r>
            <a:r>
              <a:rPr lang="ko-KR"/>
              <a:t>곡선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logistic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Data!$A$2:$A$269</c:f>
              <c:numCache>
                <c:formatCode>General</c:formatCode>
                <c:ptCount val="26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0.98888888888888882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0.62222222222222223</c:v>
                </c:pt>
                <c:pt idx="239">
                  <c:v>0.61111111111111116</c:v>
                </c:pt>
                <c:pt idx="240">
                  <c:v>0.6</c:v>
                </c:pt>
                <c:pt idx="241">
                  <c:v>0.58888888888888891</c:v>
                </c:pt>
                <c:pt idx="242">
                  <c:v>0.57777777777777772</c:v>
                </c:pt>
                <c:pt idx="243">
                  <c:v>0.56666666666666665</c:v>
                </c:pt>
                <c:pt idx="244">
                  <c:v>0.55555555555555558</c:v>
                </c:pt>
                <c:pt idx="245">
                  <c:v>0.5444444444444444</c:v>
                </c:pt>
                <c:pt idx="246">
                  <c:v>0.53333333333333333</c:v>
                </c:pt>
                <c:pt idx="247">
                  <c:v>0.52222222222222225</c:v>
                </c:pt>
                <c:pt idx="248">
                  <c:v>0.51111111111111107</c:v>
                </c:pt>
                <c:pt idx="249">
                  <c:v>0.5</c:v>
                </c:pt>
                <c:pt idx="250">
                  <c:v>0.48888888888888887</c:v>
                </c:pt>
                <c:pt idx="251">
                  <c:v>0.4777777777777778</c:v>
                </c:pt>
                <c:pt idx="252">
                  <c:v>0.46666666666666667</c:v>
                </c:pt>
                <c:pt idx="253">
                  <c:v>0.45555555555555555</c:v>
                </c:pt>
                <c:pt idx="254">
                  <c:v>0.44444444444444442</c:v>
                </c:pt>
                <c:pt idx="255">
                  <c:v>0.43333333333333335</c:v>
                </c:pt>
                <c:pt idx="256">
                  <c:v>0.42222222222222222</c:v>
                </c:pt>
                <c:pt idx="257">
                  <c:v>0.41111111111111109</c:v>
                </c:pt>
                <c:pt idx="258">
                  <c:v>0.4</c:v>
                </c:pt>
                <c:pt idx="259">
                  <c:v>0.3888888888888889</c:v>
                </c:pt>
                <c:pt idx="260">
                  <c:v>0.37777777777777777</c:v>
                </c:pt>
                <c:pt idx="261">
                  <c:v>0.36666666666666664</c:v>
                </c:pt>
                <c:pt idx="262">
                  <c:v>0.35555555555555557</c:v>
                </c:pt>
                <c:pt idx="263">
                  <c:v>0.34444444444444444</c:v>
                </c:pt>
                <c:pt idx="264">
                  <c:v>0.33333333333333331</c:v>
                </c:pt>
                <c:pt idx="265">
                  <c:v>0.32222222222222224</c:v>
                </c:pt>
                <c:pt idx="266">
                  <c:v>0.31111111111111112</c:v>
                </c:pt>
                <c:pt idx="267">
                  <c:v>0</c:v>
                </c:pt>
              </c:numCache>
            </c:numRef>
          </c:xVal>
          <c:yVal>
            <c:numRef>
              <c:f>Data!$B$2:$B$269</c:f>
              <c:numCache>
                <c:formatCode>General</c:formatCode>
                <c:ptCount val="268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0.97826086956521741</c:v>
                </c:pt>
                <c:pt idx="203">
                  <c:v>0.98901098901098905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501-4414-8D0E-80EDC4351DAA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lstm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Data!$C$2:$C$295</c:f>
              <c:numCache>
                <c:formatCode>General</c:formatCode>
                <c:ptCount val="29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0.98888888888888882</c:v>
                </c:pt>
                <c:pt idx="203">
                  <c:v>0.98888888888888882</c:v>
                </c:pt>
                <c:pt idx="204">
                  <c:v>0.97777777777777763</c:v>
                </c:pt>
                <c:pt idx="205">
                  <c:v>0.97777777777777763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0.61111111111111116</c:v>
                </c:pt>
                <c:pt idx="239">
                  <c:v>0.6</c:v>
                </c:pt>
                <c:pt idx="240">
                  <c:v>0.58888888888888891</c:v>
                </c:pt>
                <c:pt idx="241">
                  <c:v>0.57777777777777772</c:v>
                </c:pt>
                <c:pt idx="242">
                  <c:v>0.56666666666666665</c:v>
                </c:pt>
                <c:pt idx="243">
                  <c:v>0.55555555555555558</c:v>
                </c:pt>
                <c:pt idx="244">
                  <c:v>0.5444444444444444</c:v>
                </c:pt>
                <c:pt idx="245">
                  <c:v>0.53333333333333333</c:v>
                </c:pt>
                <c:pt idx="246">
                  <c:v>0.52222222222222225</c:v>
                </c:pt>
                <c:pt idx="247">
                  <c:v>0.51111111111111107</c:v>
                </c:pt>
                <c:pt idx="248">
                  <c:v>0.5</c:v>
                </c:pt>
                <c:pt idx="249">
                  <c:v>0.48888888888888887</c:v>
                </c:pt>
                <c:pt idx="250">
                  <c:v>0.4777777777777778</c:v>
                </c:pt>
                <c:pt idx="251">
                  <c:v>0.46666666666666667</c:v>
                </c:pt>
                <c:pt idx="252">
                  <c:v>0.45555555555555555</c:v>
                </c:pt>
                <c:pt idx="253">
                  <c:v>0.44444444444444442</c:v>
                </c:pt>
                <c:pt idx="254">
                  <c:v>0.43333333333333335</c:v>
                </c:pt>
                <c:pt idx="255">
                  <c:v>0.42222222222222222</c:v>
                </c:pt>
                <c:pt idx="256">
                  <c:v>0.41111111111111109</c:v>
                </c:pt>
                <c:pt idx="257">
                  <c:v>0.4</c:v>
                </c:pt>
                <c:pt idx="258">
                  <c:v>0.3888888888888889</c:v>
                </c:pt>
                <c:pt idx="259">
                  <c:v>0.37777777777777777</c:v>
                </c:pt>
                <c:pt idx="260">
                  <c:v>0.36666666666666664</c:v>
                </c:pt>
                <c:pt idx="261">
                  <c:v>0.35555555555555557</c:v>
                </c:pt>
                <c:pt idx="262">
                  <c:v>0.34444444444444444</c:v>
                </c:pt>
                <c:pt idx="263">
                  <c:v>0.33333333333333331</c:v>
                </c:pt>
                <c:pt idx="264">
                  <c:v>0.32222222222222224</c:v>
                </c:pt>
                <c:pt idx="265">
                  <c:v>0.31111111111111112</c:v>
                </c:pt>
                <c:pt idx="266">
                  <c:v>0.3</c:v>
                </c:pt>
                <c:pt idx="267">
                  <c:v>0.28888888888888886</c:v>
                </c:pt>
                <c:pt idx="268">
                  <c:v>0.27777777777777779</c:v>
                </c:pt>
                <c:pt idx="269">
                  <c:v>0.26666666666666666</c:v>
                </c:pt>
                <c:pt idx="270">
                  <c:v>0.25555555555555554</c:v>
                </c:pt>
                <c:pt idx="271">
                  <c:v>0.24444444444444444</c:v>
                </c:pt>
                <c:pt idx="272">
                  <c:v>0.23333333333333336</c:v>
                </c:pt>
                <c:pt idx="273">
                  <c:v>0.22222222222222221</c:v>
                </c:pt>
                <c:pt idx="274">
                  <c:v>0.21111111111111111</c:v>
                </c:pt>
                <c:pt idx="275">
                  <c:v>0.2</c:v>
                </c:pt>
                <c:pt idx="276">
                  <c:v>0.18888888888888888</c:v>
                </c:pt>
                <c:pt idx="277">
                  <c:v>0.17777777777777778</c:v>
                </c:pt>
                <c:pt idx="278">
                  <c:v>0.16666666666666666</c:v>
                </c:pt>
                <c:pt idx="279">
                  <c:v>0.15555555555555556</c:v>
                </c:pt>
                <c:pt idx="280">
                  <c:v>0.14444444444444443</c:v>
                </c:pt>
                <c:pt idx="281">
                  <c:v>0.13333333333333333</c:v>
                </c:pt>
                <c:pt idx="282">
                  <c:v>0.12222222222222222</c:v>
                </c:pt>
                <c:pt idx="283">
                  <c:v>0.1111111111111111</c:v>
                </c:pt>
                <c:pt idx="284">
                  <c:v>0.1</c:v>
                </c:pt>
                <c:pt idx="285">
                  <c:v>8.8888888888888892E-2</c:v>
                </c:pt>
                <c:pt idx="286">
                  <c:v>7.7777777777777779E-2</c:v>
                </c:pt>
                <c:pt idx="287">
                  <c:v>6.6666666666666666E-2</c:v>
                </c:pt>
                <c:pt idx="288">
                  <c:v>5.5555555555555552E-2</c:v>
                </c:pt>
                <c:pt idx="289">
                  <c:v>4.4444444444444446E-2</c:v>
                </c:pt>
                <c:pt idx="290">
                  <c:v>3.3333333333333333E-2</c:v>
                </c:pt>
                <c:pt idx="291">
                  <c:v>2.2222222222222223E-2</c:v>
                </c:pt>
                <c:pt idx="292">
                  <c:v>1.1111111111111112E-2</c:v>
                </c:pt>
                <c:pt idx="293">
                  <c:v>0</c:v>
                </c:pt>
              </c:numCache>
            </c:numRef>
          </c:xVal>
          <c:yVal>
            <c:numRef>
              <c:f>Data!$D$2:$D$295</c:f>
              <c:numCache>
                <c:formatCode>General</c:formatCode>
                <c:ptCount val="294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0.96739130434782605</c:v>
                </c:pt>
                <c:pt idx="203">
                  <c:v>0.97802197802197799</c:v>
                </c:pt>
                <c:pt idx="204">
                  <c:v>0.97777777777777763</c:v>
                </c:pt>
                <c:pt idx="205">
                  <c:v>0.9887640449438202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501-4414-8D0E-80EDC4351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8368063"/>
        <c:axId val="1149114832"/>
      </c:scatterChart>
      <c:valAx>
        <c:axId val="1088368063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Recall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114832"/>
        <c:crosses val="autoZero"/>
        <c:crossBetween val="midCat"/>
      </c:valAx>
      <c:valAx>
        <c:axId val="114911483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Precision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83680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기준과 데이터 구성</a:t>
            </a:r>
            <a:r>
              <a:rPr lang="en-US" altLang="ko-KR"/>
              <a:t>, </a:t>
            </a:r>
            <a:r>
              <a:rPr lang="ko-KR" altLang="en-US"/>
              <a:t>링 버퍼의 역할</a:t>
            </a:r>
            <a:r>
              <a:rPr lang="en-US" altLang="ko-KR"/>
              <a:t>, </a:t>
            </a:r>
            <a:r>
              <a:rPr lang="ko-KR" altLang="en-US"/>
              <a:t>학습 과정과 평가 결과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버퍼는 최근 센서 데이터를 일정한 크기의 공간에 유지하는 구조입니다</a:t>
            </a:r>
            <a:r>
              <a:rPr lang="en-US" altLang="ko-KR"/>
              <a:t>. </a:t>
            </a:r>
            <a:r>
              <a:rPr lang="ko-KR" altLang="en-US"/>
              <a:t>이 프로젝트에서는 전처리하고 정규화한 특징과 </a:t>
            </a:r>
            <a:r>
              <a:rPr lang="en-US" altLang="ko-KR"/>
              <a:t>timestamp, </a:t>
            </a:r>
            <a:r>
              <a:rPr lang="ko-KR" altLang="en-US"/>
              <a:t>유효성 정보를 저장합니다</a:t>
            </a:r>
            <a:r>
              <a:rPr lang="en-US" altLang="ko-KR"/>
              <a:t>. </a:t>
            </a:r>
            <a:r>
              <a:rPr lang="ko-KR" altLang="en-US"/>
              <a:t>새 데이터가 들어오면 가장 오래된 데이터의 자리를 사용하므로 저장 배열이 계속 커지지 않습니다</a:t>
            </a:r>
            <a:r>
              <a:rPr lang="en-US" altLang="ko-KR"/>
              <a:t>. </a:t>
            </a:r>
            <a:r>
              <a:rPr lang="ko-KR" altLang="en-US"/>
              <a:t>표는 동작을 설명하기 위해 붙인 샘플 번호입니다</a:t>
            </a:r>
            <a:r>
              <a:rPr lang="en-US" altLang="ko-KR"/>
              <a:t>. 1</a:t>
            </a:r>
            <a:r>
              <a:rPr lang="ko-KR" altLang="en-US"/>
              <a:t>번부터 </a:t>
            </a:r>
            <a:r>
              <a:rPr lang="en-US" altLang="ko-KR"/>
              <a:t>66</a:t>
            </a:r>
            <a:r>
              <a:rPr lang="ko-KR" altLang="en-US"/>
              <a:t>번까지 보관하다가 </a:t>
            </a:r>
            <a:r>
              <a:rPr lang="en-US" altLang="ko-KR"/>
              <a:t>67</a:t>
            </a:r>
            <a:r>
              <a:rPr lang="ko-KR" altLang="en-US"/>
              <a:t>번이 들어오면 </a:t>
            </a:r>
            <a:r>
              <a:rPr lang="en-US" altLang="ko-KR"/>
              <a:t>1</a:t>
            </a:r>
            <a:r>
              <a:rPr lang="ko-KR" altLang="en-US"/>
              <a:t>번을 덮어쓰고 </a:t>
            </a:r>
            <a:r>
              <a:rPr lang="en-US" altLang="ko-KR"/>
              <a:t>2</a:t>
            </a:r>
            <a:r>
              <a:rPr lang="ko-KR" altLang="en-US"/>
              <a:t>번부터 </a:t>
            </a:r>
            <a:r>
              <a:rPr lang="en-US" altLang="ko-KR"/>
              <a:t>67</a:t>
            </a:r>
            <a:r>
              <a:rPr lang="ko-KR" altLang="en-US"/>
              <a:t>번을 유지합니다</a:t>
            </a:r>
            <a:r>
              <a:rPr lang="en-US" altLang="ko-KR"/>
              <a:t>. </a:t>
            </a:r>
            <a:r>
              <a:rPr lang="ko-KR" altLang="en-US"/>
              <a:t>입력 시퀀스도 최신 </a:t>
            </a:r>
            <a:r>
              <a:rPr lang="en-US" altLang="ko-KR"/>
              <a:t>16</a:t>
            </a:r>
            <a:r>
              <a:rPr lang="ko-KR" altLang="en-US"/>
              <a:t>개인 </a:t>
            </a:r>
            <a:r>
              <a:rPr lang="en-US" altLang="ko-KR"/>
              <a:t>52</a:t>
            </a:r>
            <a:r>
              <a:rPr lang="ko-KR" altLang="en-US"/>
              <a:t>번부터 </a:t>
            </a:r>
            <a:r>
              <a:rPr lang="en-US" altLang="ko-KR"/>
              <a:t>67</a:t>
            </a:r>
            <a:r>
              <a:rPr lang="ko-KR" altLang="en-US"/>
              <a:t>번으로 바뀝니다</a:t>
            </a:r>
            <a:r>
              <a:rPr lang="en-US" altLang="ko-KR"/>
              <a:t>. </a:t>
            </a:r>
            <a:r>
              <a:rPr lang="ko-KR" altLang="en-US"/>
              <a:t>데모 용량 </a:t>
            </a:r>
            <a:r>
              <a:rPr lang="en-US" altLang="ko-KR"/>
              <a:t>66</a:t>
            </a:r>
            <a:r>
              <a:rPr lang="ko-KR" altLang="en-US"/>
              <a:t>개는 입력 </a:t>
            </a:r>
            <a:r>
              <a:rPr lang="en-US" altLang="ko-KR"/>
              <a:t>16</a:t>
            </a:r>
            <a:r>
              <a:rPr lang="ko-KR" altLang="en-US"/>
              <a:t>개와 </a:t>
            </a:r>
            <a:r>
              <a:rPr lang="en-US" altLang="ko-KR"/>
              <a:t>100</a:t>
            </a:r>
            <a:r>
              <a:rPr lang="ko-KR" altLang="en-US"/>
              <a:t>밀리초 간격의 과거 </a:t>
            </a:r>
            <a:r>
              <a:rPr lang="en-US" altLang="ko-KR"/>
              <a:t>5</a:t>
            </a:r>
            <a:r>
              <a:rPr lang="ko-KR" altLang="en-US"/>
              <a:t>초분인 </a:t>
            </a:r>
            <a:r>
              <a:rPr lang="en-US" altLang="ko-KR"/>
              <a:t>50</a:t>
            </a:r>
            <a:r>
              <a:rPr lang="ko-KR" altLang="en-US"/>
              <a:t>개를 합한 값입니다</a:t>
            </a:r>
            <a:r>
              <a:rPr lang="en-US" altLang="ko-KR"/>
              <a:t>. </a:t>
            </a:r>
            <a:r>
              <a:rPr lang="ko-KR" altLang="en-US"/>
              <a:t>실제 운용값은 센서 데이터와 </a:t>
            </a:r>
            <a:r>
              <a:rPr lang="en-US" altLang="ko-KR"/>
              <a:t>MCU </a:t>
            </a:r>
            <a:r>
              <a:rPr lang="ko-KR" altLang="en-US"/>
              <a:t>예산에 맞춰 결정해야 합니다</a:t>
            </a:r>
            <a:r>
              <a:rPr lang="en-US" altLang="ko-KR"/>
              <a:t>. </a:t>
            </a:r>
            <a:r>
              <a:rPr lang="ko-KR" altLang="en-US"/>
              <a:t>최신 </a:t>
            </a:r>
            <a:r>
              <a:rPr lang="en-US" altLang="ko-KR"/>
              <a:t>16</a:t>
            </a:r>
            <a:r>
              <a:rPr lang="ko-KR" altLang="en-US"/>
              <a:t>개가 유효하고 시간 간격이 맞을 때 </a:t>
            </a:r>
            <a:r>
              <a:rPr lang="en-US" altLang="ko-KR"/>
              <a:t>SequenceBuilder</a:t>
            </a:r>
            <a:r>
              <a:rPr lang="ko-KR" altLang="en-US"/>
              <a:t>가 입력을 준비합니다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src/realtime/ring_buffer.py, src/realtime/sequence_builder.py, configs/realtime_demo.yaml, docs/ring-buffer-usage.md. 1~67</a:t>
            </a:r>
            <a:r>
              <a:rPr lang="ko-KR" altLang="en-US"/>
              <a:t>은 구조 설명용 번호이며 측정값이나 위험 </a:t>
            </a:r>
            <a:r>
              <a:rPr lang="en-US" altLang="ko-KR"/>
              <a:t>label</a:t>
            </a:r>
            <a:r>
              <a:rPr lang="ko-KR" altLang="en-US"/>
              <a:t>이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0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 데모에서는 합성 </a:t>
            </a:r>
            <a:r>
              <a:rPr lang="en-US" altLang="ko-KR"/>
              <a:t>CSV</a:t>
            </a:r>
            <a:r>
              <a:rPr lang="ko-KR" altLang="en-US"/>
              <a:t>의 </a:t>
            </a:r>
            <a:r>
              <a:rPr lang="en-US" altLang="ko-KR"/>
              <a:t>3,600</a:t>
            </a:r>
            <a:r>
              <a:rPr lang="ko-KR" altLang="en-US"/>
              <a:t>개 샘플을 재생했습니다</a:t>
            </a:r>
            <a:r>
              <a:rPr lang="en-US" altLang="ko-KR"/>
              <a:t>. </a:t>
            </a:r>
            <a:r>
              <a:rPr lang="ko-KR" altLang="en-US"/>
              <a:t>새 데이터가 계속 들어와도 버퍼에는 최대 </a:t>
            </a:r>
            <a:r>
              <a:rPr lang="en-US" altLang="ko-KR"/>
              <a:t>66</a:t>
            </a:r>
            <a:r>
              <a:rPr lang="ko-KR" altLang="en-US"/>
              <a:t>개만 남았고</a:t>
            </a:r>
            <a:r>
              <a:rPr lang="en-US" altLang="ko-KR"/>
              <a:t>, </a:t>
            </a:r>
            <a:r>
              <a:rPr lang="ko-KR" altLang="en-US"/>
              <a:t>오래된 샘플을 </a:t>
            </a:r>
            <a:r>
              <a:rPr lang="en-US" altLang="ko-KR"/>
              <a:t>3,204</a:t>
            </a:r>
            <a:r>
              <a:rPr lang="ko-KR" altLang="en-US"/>
              <a:t>회 덮어썼습니다</a:t>
            </a:r>
            <a:r>
              <a:rPr lang="en-US" altLang="ko-KR"/>
              <a:t>. SequenceBuilder</a:t>
            </a:r>
            <a:r>
              <a:rPr lang="ko-KR" altLang="en-US"/>
              <a:t>는 </a:t>
            </a:r>
            <a:r>
              <a:rPr lang="en-US" altLang="ko-KR"/>
              <a:t>882</a:t>
            </a:r>
            <a:r>
              <a:rPr lang="ko-KR" altLang="en-US"/>
              <a:t>개의 입력 시퀀스를 준비했으며 입력 크기는 </a:t>
            </a:r>
            <a:r>
              <a:rPr lang="en-US" altLang="ko-KR"/>
              <a:t>1, 16, 20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버퍼 배열의 데이터 크기는 </a:t>
            </a:r>
            <a:r>
              <a:rPr lang="en-US" altLang="ko-KR"/>
              <a:t>5,874</a:t>
            </a:r>
            <a:r>
              <a:rPr lang="ko-KR" altLang="en-US"/>
              <a:t>바이트입니다</a:t>
            </a:r>
            <a:r>
              <a:rPr lang="en-US" altLang="ko-KR"/>
              <a:t>. </a:t>
            </a:r>
            <a:r>
              <a:rPr lang="ko-KR" altLang="en-US"/>
              <a:t>이 숫자에는 </a:t>
            </a:r>
            <a:r>
              <a:rPr lang="en-US" altLang="ko-KR"/>
              <a:t>Python </a:t>
            </a:r>
            <a:r>
              <a:rPr lang="ko-KR" altLang="en-US"/>
              <a:t>객체</a:t>
            </a:r>
            <a:r>
              <a:rPr lang="en-US" altLang="ko-KR"/>
              <a:t>, </a:t>
            </a:r>
            <a:r>
              <a:rPr lang="ko-KR" altLang="en-US"/>
              <a:t>전처리</a:t>
            </a:r>
            <a:r>
              <a:rPr lang="en-US" altLang="ko-KR"/>
              <a:t>, </a:t>
            </a:r>
            <a:r>
              <a:rPr lang="ko-KR" altLang="en-US"/>
              <a:t>모델과 </a:t>
            </a:r>
            <a:r>
              <a:rPr lang="en-US" altLang="ko-KR"/>
              <a:t>MCU </a:t>
            </a:r>
            <a:r>
              <a:rPr lang="ko-KR" altLang="en-US"/>
              <a:t>실행 메모리가 포함되지 않습니다</a:t>
            </a:r>
            <a:r>
              <a:rPr lang="en-US" altLang="ko-KR"/>
              <a:t>. </a:t>
            </a:r>
            <a:r>
              <a:rPr lang="ko-KR" altLang="en-US"/>
              <a:t>데이터가 충분하지 않거나</a:t>
            </a:r>
            <a:r>
              <a:rPr lang="en-US" altLang="ko-KR"/>
              <a:t>, </a:t>
            </a:r>
            <a:r>
              <a:rPr lang="ko-KR" altLang="en-US"/>
              <a:t>최신 구간에 무효 입력 또는 시간 간격 오류가 있으면 준비 완료 상태를 내보내지 않도록 구현하고 테스트했습니다</a:t>
            </a:r>
            <a:r>
              <a:rPr lang="en-US" altLang="ko-KR"/>
              <a:t>. </a:t>
            </a:r>
            <a:r>
              <a:rPr lang="ko-KR" altLang="en-US"/>
              <a:t>이번 데모의 </a:t>
            </a:r>
            <a:r>
              <a:rPr lang="en-US" altLang="ko-KR"/>
              <a:t>6</a:t>
            </a:r>
            <a:r>
              <a:rPr lang="ko-KR" altLang="en-US"/>
              <a:t>개 합성 구간은 이벤트 경계에서 입력 상태를 초기화했습니다</a:t>
            </a:r>
            <a:r>
              <a:rPr lang="en-US" altLang="ko-KR"/>
              <a:t>. </a:t>
            </a:r>
            <a:r>
              <a:rPr lang="ko-KR" altLang="en-US"/>
              <a:t>실제 연속 수신에서는 데이터 획득 재시작 같은 명시적 경계를 사용해 검증해야 합니다</a:t>
            </a:r>
            <a:r>
              <a:rPr lang="en-US" altLang="ko-KR"/>
              <a:t>. </a:t>
            </a:r>
            <a:r>
              <a:rPr lang="ko-KR" altLang="en-US"/>
              <a:t>현재 완료 범위는 최근 데이터를 유지하고 모델에 전달할 입력을 준비하는 기능입니다</a:t>
            </a:r>
            <a:r>
              <a:rPr lang="en-US" altLang="ko-KR"/>
              <a:t>. </a:t>
            </a:r>
            <a:r>
              <a:rPr lang="ko-KR" altLang="en-US"/>
              <a:t>모델 추론</a:t>
            </a:r>
            <a:r>
              <a:rPr lang="en-US" altLang="ko-KR"/>
              <a:t>, </a:t>
            </a:r>
            <a:r>
              <a:rPr lang="ko-KR" altLang="en-US"/>
              <a:t>위험 판단과 자동 이벤트 기록 연결은 다음 단계입니다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artifacts/reports/ring-buffer-demo.json, docs/ring-buffer-usage.md, tests/test_ring_buffer.py. </a:t>
            </a:r>
            <a:r>
              <a:rPr lang="ko-KR" altLang="en-US"/>
              <a:t>별도 </a:t>
            </a:r>
            <a:r>
              <a:rPr lang="en-US" altLang="ko-KR"/>
              <a:t>Phase 2 </a:t>
            </a:r>
            <a:r>
              <a:rPr lang="ko-KR" altLang="en-US"/>
              <a:t>합성 입력 데모이며 학습된 모델의 실시간 추론 결과가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974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artifacts/models/demo-20261005-233045/history.json, test-predictions.npz, report.json. </a:t>
            </a:r>
            <a:r>
              <a:rPr lang="ko-KR" altLang="en-US"/>
              <a:t>저장된 원본 수치로 그린 합성 데이터 실험 결과</a:t>
            </a:r>
            <a:r>
              <a:rPr lang="en-US" altLang="ko-KR"/>
              <a:t>. PR </a:t>
            </a:r>
            <a:r>
              <a:rPr lang="ko-KR" altLang="en-US"/>
              <a:t>곡선은 </a:t>
            </a:r>
            <a:r>
              <a:rPr lang="en-US" altLang="ko-KR"/>
              <a:t>sklearn precision_recall_curve </a:t>
            </a:r>
            <a:r>
              <a:rPr lang="ko-KR" altLang="en-US"/>
              <a:t>사용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models.lstm.test.confusion_matrix.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models.logistic.test.confusion_matrix.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평가와 링 버퍼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80397C-874E-FDD2-69E7-35F61C4C70F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버퍼의 역할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92C90-8D8A-D4D2-3F05-6E1830F153BA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전처리한 특징을 고정 공간에 저장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표는 샘플 번호로 설명한 동작 예시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44825-98C4-DD95-B3E6-91D77F497A5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CECB7-99D6-0434-2CAA-2DC73E10564B}"/>
              </a:ext>
            </a:extLst>
          </p:cNvPr>
          <p:cNvSpPr txBox="1"/>
          <p:nvPr/>
        </p:nvSpPr>
        <p:spPr>
          <a:xfrm>
            <a:off x="685800" y="15113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보관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최신 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개로 입력 생성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84102DB-0E6D-B148-B0F5-6C0F29529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894004"/>
              </p:ext>
            </p:extLst>
          </p:nvPr>
        </p:nvGraphicFramePr>
        <p:xfrm>
          <a:off x="685800" y="2540000"/>
          <a:ext cx="10668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4594689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80332288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149789105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 예시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전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후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2202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보관 샘플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1~66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2~67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53581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최신 입력 </a:t>
                      </a:r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51~66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52~67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1128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9283E1-BC35-C737-401F-24899BF51EB2}"/>
              </a:ext>
            </a:extLst>
          </p:cNvPr>
          <p:cNvSpPr txBox="1"/>
          <p:nvPr/>
        </p:nvSpPr>
        <p:spPr>
          <a:xfrm>
            <a:off x="685800" y="52197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번이 들어오면 가장 오래된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자리 사용</a:t>
            </a:r>
          </a:p>
        </p:txBody>
      </p:sp>
    </p:spTree>
    <p:extLst>
      <p:ext uri="{BB962C8B-B14F-4D97-AF65-F5344CB8AC3E}">
        <p14:creationId xmlns:p14="http://schemas.microsoft.com/office/powerpoint/2010/main" val="151063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FACC0-23C7-31B1-7570-24322C304D8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 실행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37D8A-740E-3EA9-004B-4A1DF00327AE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배열 메모리만 집계하며 모델 추론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·MCU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검증은 후속 단계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DB2A0-A799-6E94-B3A5-E1F018C41068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92A1A-2F62-646B-389D-A8C2A2354990}"/>
              </a:ext>
            </a:extLst>
          </p:cNvPr>
          <p:cNvSpPr txBox="1"/>
          <p:nvPr/>
        </p:nvSpPr>
        <p:spPr>
          <a:xfrm>
            <a:off x="685800" y="15113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3,600</a:t>
            </a:r>
            <a:r>
              <a:rPr lang="ko-KR" altLang="en-US" sz="3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샘플 재생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121B4-768A-FE67-4AA7-8311630012CE}"/>
              </a:ext>
            </a:extLst>
          </p:cNvPr>
          <p:cNvSpPr txBox="1"/>
          <p:nvPr/>
        </p:nvSpPr>
        <p:spPr>
          <a:xfrm>
            <a:off x="6731000" y="1511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</a:t>
            </a:r>
            <a:r>
              <a:rPr lang="ko-KR" altLang="en-US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유지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DFEF87E-5ACB-243A-E2B6-D90247FB8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816815"/>
              </p:ext>
            </p:extLst>
          </p:nvPr>
        </p:nvGraphicFramePr>
        <p:xfrm>
          <a:off x="685800" y="2438400"/>
          <a:ext cx="10668000" cy="303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0">
                  <a:extLst>
                    <a:ext uri="{9D8B030D-6E8A-4147-A177-3AD203B41FA5}">
                      <a16:colId xmlns:a16="http://schemas.microsoft.com/office/drawing/2014/main" val="548147509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604140149"/>
                    </a:ext>
                  </a:extLst>
                </a:gridCol>
              </a:tblGrid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항목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결과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4242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준비된 입력 시퀀스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882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718622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텐서 크기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× 16 × 20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349801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오래된 샘플 덮어쓰기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3,204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712197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배열 메모리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5,874 bytes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7720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933FCB5-A766-6FE6-62C4-6698505D37F1}"/>
              </a:ext>
            </a:extLst>
          </p:cNvPr>
          <p:cNvSpPr txBox="1"/>
          <p:nvPr/>
        </p:nvSpPr>
        <p:spPr>
          <a:xfrm>
            <a:off x="685800" y="5753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부족</a:t>
            </a: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무효 입력</a:t>
            </a: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간격 오류 검사</a:t>
            </a:r>
          </a:p>
        </p:txBody>
      </p:sp>
    </p:spTree>
    <p:extLst>
      <p:ext uri="{BB962C8B-B14F-4D97-AF65-F5344CB8AC3E}">
        <p14:creationId xmlns:p14="http://schemas.microsoft.com/office/powerpoint/2010/main" val="279817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382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5024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ED98BA7-075A-9598-78A0-D39665D41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1212913"/>
              </p:ext>
            </p:extLst>
          </p:nvPr>
        </p:nvGraphicFramePr>
        <p:xfrm>
          <a:off x="6858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AD4AF857-AA15-E078-E037-623113D7B2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3139343"/>
              </p:ext>
            </p:extLst>
          </p:nvPr>
        </p:nvGraphicFramePr>
        <p:xfrm>
          <a:off x="63500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BF05EFF-149A-4E02-65AA-5396E0334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78002"/>
              </p:ext>
            </p:extLst>
          </p:nvPr>
        </p:nvGraphicFramePr>
        <p:xfrm>
          <a:off x="685800" y="1854200"/>
          <a:ext cx="51054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583634388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11388854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384016168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63366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611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03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80E99A2-2C93-B6A8-1F57-09341B336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227315"/>
              </p:ext>
            </p:extLst>
          </p:nvPr>
        </p:nvGraphicFramePr>
        <p:xfrm>
          <a:off x="685800" y="1854200"/>
          <a:ext cx="46355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167">
                  <a:extLst>
                    <a:ext uri="{9D8B030D-6E8A-4147-A177-3AD203B41FA5}">
                      <a16:colId xmlns:a16="http://schemas.microsoft.com/office/drawing/2014/main" val="4279383941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1222204215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29059566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495799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25825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44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1918</Words>
  <Application>Microsoft Office PowerPoint</Application>
  <PresentationFormat>와이드스크린</PresentationFormat>
  <Paragraphs>229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2</cp:revision>
  <dcterms:created xsi:type="dcterms:W3CDTF">2026-10-06T19:07:32Z</dcterms:created>
  <dcterms:modified xsi:type="dcterms:W3CDTF">2026-10-12T04:41:19Z</dcterms:modified>
</cp:coreProperties>
</file>