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낙뢰방호장치 센서 데이터를 분석하기 위한 </a:t>
            </a:r>
            <a:r>
              <a:rPr lang="en-US" altLang="ko-KR"/>
              <a:t>LSTM </a:t>
            </a:r>
            <a:r>
              <a:rPr lang="ko-KR" altLang="en-US"/>
              <a:t>모델을 구현하고 실제 학습과 성능 평가를 진행했습니다</a:t>
            </a:r>
            <a:r>
              <a:rPr lang="en-US" altLang="ko-KR"/>
              <a:t>. 3</a:t>
            </a:r>
            <a:r>
              <a:rPr lang="ko-KR" altLang="en-US"/>
              <a:t>회차에서는 전처리 방법과 시계열 입력 구성을 검토했습니다</a:t>
            </a:r>
            <a:r>
              <a:rPr lang="en-US" altLang="ko-KR"/>
              <a:t>. </a:t>
            </a:r>
            <a:r>
              <a:rPr lang="ko-KR" altLang="en-US"/>
              <a:t>이번에는 이를 프로그램으로 구현해 데이터를 입력하고 모델을 학습한 뒤 결과를 확인하는 단계까지 진행했습니다</a:t>
            </a:r>
            <a:r>
              <a:rPr lang="en-US" altLang="ko-KR"/>
              <a:t>. </a:t>
            </a:r>
            <a:r>
              <a:rPr lang="ko-KR" altLang="en-US"/>
              <a:t>센서 기준</a:t>
            </a:r>
            <a:r>
              <a:rPr lang="en-US" altLang="ko-KR"/>
              <a:t>, </a:t>
            </a:r>
            <a:r>
              <a:rPr lang="ko-KR" altLang="en-US"/>
              <a:t>학습 과정</a:t>
            </a:r>
            <a:r>
              <a:rPr lang="en-US" altLang="ko-KR"/>
              <a:t>, </a:t>
            </a:r>
            <a:r>
              <a:rPr lang="ko-KR" altLang="en-US"/>
              <a:t>평가 결과와 현재 한계 순서로 말씀드리겠습니다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 보고서 방경식 </a:t>
            </a:r>
            <a:r>
              <a:rPr lang="en-US" altLang="ko-KR"/>
              <a:t>3</a:t>
            </a:r>
            <a:r>
              <a:rPr lang="ko-KR" altLang="en-US"/>
              <a:t>회차</a:t>
            </a:r>
            <a:r>
              <a:rPr lang="en-US" altLang="ko-KR"/>
              <a:t>.hwp </a:t>
            </a:r>
            <a:r>
              <a:rPr lang="ko-KR" altLang="en-US"/>
              <a:t>및 이번 </a:t>
            </a:r>
            <a:r>
              <a:rPr lang="en-US" altLang="ko-KR"/>
              <a:t>4</a:t>
            </a:r>
            <a:r>
              <a:rPr lang="ko-KR" altLang="en-US"/>
              <a:t>회차 대본</a:t>
            </a:r>
            <a:r>
              <a:rPr lang="en-US" altLang="ko-KR"/>
              <a:t>. </a:t>
            </a:r>
            <a:r>
              <a:rPr lang="ko-KR" altLang="en-US"/>
              <a:t>실험</a:t>
            </a:r>
            <a:r>
              <a:rPr lang="en-US" altLang="ko-KR"/>
              <a:t>: 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85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교육계획서 마지막 표에서 센서 범위</a:t>
            </a:r>
            <a:r>
              <a:rPr lang="en-US" altLang="ko-KR"/>
              <a:t>, Threshold </a:t>
            </a:r>
            <a:r>
              <a:rPr lang="ko-KR" altLang="en-US"/>
              <a:t>기준값과 주기를 확인했습니다</a:t>
            </a:r>
            <a:r>
              <a:rPr lang="en-US" altLang="ko-KR"/>
              <a:t>. </a:t>
            </a:r>
            <a:r>
              <a:rPr lang="ko-KR" altLang="en-US"/>
              <a:t>대지전위는 </a:t>
            </a:r>
            <a:r>
              <a:rPr lang="en-US" altLang="ko-KR"/>
              <a:t>100</a:t>
            </a:r>
            <a:r>
              <a:rPr lang="ko-KR" altLang="en-US"/>
              <a:t>밀리초</a:t>
            </a:r>
            <a:r>
              <a:rPr lang="en-US" altLang="ko-KR"/>
              <a:t>, </a:t>
            </a:r>
            <a:r>
              <a:rPr lang="ko-KR" altLang="en-US"/>
              <a:t>제한소자 온도는 </a:t>
            </a:r>
            <a:r>
              <a:rPr lang="en-US" altLang="ko-KR"/>
              <a:t>60</a:t>
            </a:r>
            <a:r>
              <a:rPr lang="ko-KR" altLang="en-US"/>
              <a:t>초</a:t>
            </a:r>
            <a:r>
              <a:rPr lang="en-US" altLang="ko-KR"/>
              <a:t>, </a:t>
            </a:r>
            <a:r>
              <a:rPr lang="ko-KR" altLang="en-US"/>
              <a:t>습도와 외기온도는 </a:t>
            </a:r>
            <a:r>
              <a:rPr lang="en-US" altLang="ko-KR"/>
              <a:t>60</a:t>
            </a:r>
            <a:r>
              <a:rPr lang="ko-KR" altLang="en-US"/>
              <a:t>분 주기입니다</a:t>
            </a:r>
            <a:r>
              <a:rPr lang="en-US" altLang="ko-KR"/>
              <a:t>. </a:t>
            </a:r>
            <a:r>
              <a:rPr lang="ko-KR" altLang="en-US"/>
              <a:t>누설전류 기준 </a:t>
            </a:r>
            <a:r>
              <a:rPr lang="en-US" altLang="ko-KR"/>
              <a:t>1</a:t>
            </a:r>
            <a:r>
              <a:rPr lang="ko-KR" altLang="en-US"/>
              <a:t>밀리암페어는 입력 단위 </a:t>
            </a:r>
            <a:r>
              <a:rPr lang="en-US" altLang="ko-KR"/>
              <a:t>A</a:t>
            </a:r>
            <a:r>
              <a:rPr lang="ko-KR" altLang="en-US"/>
              <a:t>에 맞춰 </a:t>
            </a:r>
            <a:r>
              <a:rPr lang="en-US" altLang="ko-KR"/>
              <a:t>0.001A</a:t>
            </a:r>
            <a:r>
              <a:rPr lang="ko-KR" altLang="en-US"/>
              <a:t>로 기록했습니다</a:t>
            </a:r>
            <a:r>
              <a:rPr lang="en-US" altLang="ko-KR"/>
              <a:t>. </a:t>
            </a:r>
            <a:r>
              <a:rPr lang="ko-KR" altLang="en-US"/>
              <a:t>온도 기준 </a:t>
            </a:r>
            <a:r>
              <a:rPr lang="en-US" altLang="ko-KR"/>
              <a:t>25</a:t>
            </a:r>
            <a:r>
              <a:rPr lang="ko-KR" altLang="en-US"/>
              <a:t>도가 절대온도인지 상승량인지는 확인이 필요해 자동 위험 판정에 적용하지 않았습니다</a:t>
            </a:r>
            <a:r>
              <a:rPr lang="en-US" altLang="ko-KR"/>
              <a:t>. </a:t>
            </a:r>
            <a:r>
              <a:rPr lang="ko-KR" altLang="en-US"/>
              <a:t>이 표는 센서 사양이며 시간별 측정값과 정답 </a:t>
            </a:r>
            <a:r>
              <a:rPr lang="en-US" altLang="ko-KR"/>
              <a:t>label</a:t>
            </a:r>
            <a:r>
              <a:rPr lang="ko-KR" altLang="en-US"/>
              <a:t>은 포함하지 않습니다</a:t>
            </a:r>
            <a:r>
              <a:rPr lang="en-US" altLang="ko-KR"/>
              <a:t>. </a:t>
            </a:r>
            <a:r>
              <a:rPr lang="ko-KR" altLang="en-US"/>
              <a:t>이번 실행은 별도 합성 데이터로 진행했습니다</a:t>
            </a:r>
            <a:r>
              <a:rPr lang="en-US" altLang="ko-KR"/>
              <a:t>. </a:t>
            </a:r>
            <a:r>
              <a:rPr lang="ko-KR" altLang="en-US"/>
              <a:t>모든 행의 바이트 표기는 원문에서 </a:t>
            </a:r>
            <a:r>
              <a:rPr lang="en-US" altLang="ko-KR"/>
              <a:t>5 bytes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입력전압 범위 셀에는 단위가 직접 적혀 있지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</a:t>
            </a:r>
            <a:r>
              <a:rPr lang="en-US" altLang="ko-KR"/>
              <a:t>_</a:t>
            </a:r>
            <a:r>
              <a:rPr lang="ko-KR" altLang="en-US"/>
              <a:t>회차별 오픈랩 진행 계획</a:t>
            </a:r>
            <a:r>
              <a:rPr lang="en-US" altLang="ko-KR"/>
              <a:t>_ver a_260909.pdf, 6</a:t>
            </a:r>
            <a:r>
              <a:rPr lang="ko-KR" altLang="en-US"/>
              <a:t>페이지</a:t>
            </a:r>
            <a:r>
              <a:rPr lang="en-US" altLang="ko-KR"/>
              <a:t>. configs/sensor_standard_reference.yaml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678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데이터를 </a:t>
            </a:r>
            <a:r>
              <a:rPr lang="en-US" altLang="ko-KR"/>
              <a:t>train 441</a:t>
            </a:r>
            <a:r>
              <a:rPr lang="ko-KR" altLang="en-US"/>
              <a:t>개</a:t>
            </a:r>
            <a:r>
              <a:rPr lang="en-US" altLang="ko-KR"/>
              <a:t>, validation 147</a:t>
            </a:r>
            <a:r>
              <a:rPr lang="ko-KR" altLang="en-US"/>
              <a:t>개</a:t>
            </a:r>
            <a:r>
              <a:rPr lang="en-US" altLang="ko-KR"/>
              <a:t>, test 294</a:t>
            </a:r>
            <a:r>
              <a:rPr lang="ko-KR" altLang="en-US"/>
              <a:t>개로 나눴습니다</a:t>
            </a:r>
            <a:r>
              <a:rPr lang="en-US" altLang="ko-KR"/>
              <a:t>. </a:t>
            </a:r>
            <a:r>
              <a:rPr lang="ko-KR" altLang="en-US"/>
              <a:t>합계 </a:t>
            </a:r>
            <a:r>
              <a:rPr lang="en-US" altLang="ko-KR"/>
              <a:t>882</a:t>
            </a:r>
            <a:r>
              <a:rPr lang="ko-KR" altLang="en-US"/>
              <a:t>개는 원본 행 수나 낙뢰 횟수가 아니라 전처리 후 입력 시퀀스 개수입니다</a:t>
            </a:r>
            <a:r>
              <a:rPr lang="en-US" altLang="ko-KR"/>
              <a:t>. </a:t>
            </a:r>
            <a:r>
              <a:rPr lang="ko-KR" altLang="en-US"/>
              <a:t>각 입력은 </a:t>
            </a:r>
            <a:r>
              <a:rPr lang="en-US" altLang="ko-KR"/>
              <a:t>100</a:t>
            </a:r>
            <a:r>
              <a:rPr lang="ko-KR" altLang="en-US"/>
              <a:t>밀리초 간격의 </a:t>
            </a:r>
            <a:r>
              <a:rPr lang="en-US" altLang="ko-KR"/>
              <a:t>16</a:t>
            </a:r>
            <a:r>
              <a:rPr lang="ko-KR" altLang="en-US"/>
              <a:t>개 시점과 센서값</a:t>
            </a:r>
            <a:r>
              <a:rPr lang="en-US" altLang="ko-KR"/>
              <a:t>, </a:t>
            </a:r>
            <a:r>
              <a:rPr lang="ko-KR" altLang="en-US"/>
              <a:t>결측 표시를 포함한 </a:t>
            </a:r>
            <a:r>
              <a:rPr lang="en-US" altLang="ko-KR"/>
              <a:t>20</a:t>
            </a:r>
            <a:r>
              <a:rPr lang="ko-KR" altLang="en-US"/>
              <a:t>개 특징으로 구성했습니다</a:t>
            </a:r>
            <a:r>
              <a:rPr lang="en-US" altLang="ko-KR"/>
              <a:t>. </a:t>
            </a:r>
            <a:r>
              <a:rPr lang="ko-KR" altLang="en-US"/>
              <a:t>같은 이벤트가 서로 다른 분할에 섞이지 않도록 했고 정규화 기준은 </a:t>
            </a:r>
            <a:r>
              <a:rPr lang="en-US" altLang="ko-KR"/>
              <a:t>train</a:t>
            </a:r>
            <a:r>
              <a:rPr lang="ko-KR" altLang="en-US"/>
              <a:t>에서만 계산했습니다</a:t>
            </a:r>
            <a:r>
              <a:rPr lang="en-US" altLang="ko-KR"/>
              <a:t>. </a:t>
            </a:r>
            <a:r>
              <a:rPr lang="ko-KR" altLang="en-US"/>
              <a:t>일부 시퀀스가 겹쳐 서로 독립적인 </a:t>
            </a:r>
            <a:r>
              <a:rPr lang="en-US" altLang="ko-KR"/>
              <a:t>882</a:t>
            </a:r>
            <a:r>
              <a:rPr lang="ko-KR" altLang="en-US"/>
              <a:t>개 사례는 아닙니다</a:t>
            </a:r>
            <a:r>
              <a:rPr lang="en-US" altLang="ko-KR"/>
              <a:t>. </a:t>
            </a:r>
            <a:r>
              <a:rPr lang="ko-KR" altLang="en-US"/>
              <a:t>이번 실행은 기존 </a:t>
            </a:r>
            <a:r>
              <a:rPr lang="en-US" altLang="ko-KR"/>
              <a:t>1.6</a:t>
            </a:r>
            <a:r>
              <a:rPr lang="ko-KR" altLang="en-US"/>
              <a:t>초 데모입니다</a:t>
            </a:r>
            <a:r>
              <a:rPr lang="en-US" altLang="ko-KR"/>
              <a:t>. </a:t>
            </a:r>
            <a:r>
              <a:rPr lang="ko-KR" altLang="en-US"/>
              <a:t>표준 프로파일에는 </a:t>
            </a:r>
            <a:r>
              <a:rPr lang="en-US" altLang="ko-KR"/>
              <a:t>64</a:t>
            </a:r>
            <a:r>
              <a:rPr lang="ko-KR" altLang="en-US"/>
              <a:t>개 시점과 측정값 나이를 사용하는 초기 설계를 추가했지만 그 프로파일로 실측 재학습을 완료하지는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data/processed/phase3-training-demo/manifest.json, feature_order.json </a:t>
            </a:r>
            <a:r>
              <a:rPr lang="ko-KR" altLang="en-US"/>
              <a:t>및 </a:t>
            </a:r>
            <a:r>
              <a:rPr lang="en-US" altLang="ko-KR"/>
              <a:t>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56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실제 </a:t>
            </a:r>
            <a:r>
              <a:rPr lang="en-US" altLang="ko-KR"/>
              <a:t>LSTM </a:t>
            </a:r>
            <a:r>
              <a:rPr lang="ko-KR" altLang="en-US"/>
              <a:t>학습 로그입니다</a:t>
            </a:r>
            <a:r>
              <a:rPr lang="en-US" altLang="ko-KR"/>
              <a:t>. Hidden unit 16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단방향 </a:t>
            </a:r>
            <a:r>
              <a:rPr lang="en-US" altLang="ko-KR"/>
              <a:t>LSTM </a:t>
            </a:r>
            <a:r>
              <a:rPr lang="ko-KR" altLang="en-US"/>
              <a:t>한 계층과 정상</a:t>
            </a:r>
            <a:r>
              <a:rPr lang="en-US" altLang="ko-KR"/>
              <a:t>·</a:t>
            </a:r>
            <a:r>
              <a:rPr lang="ko-KR" altLang="en-US"/>
              <a:t>위험을 구분하는 이진 출력을 구성했습니다</a:t>
            </a:r>
            <a:r>
              <a:rPr lang="en-US" altLang="ko-KR"/>
              <a:t>. Adam </a:t>
            </a:r>
            <a:r>
              <a:rPr lang="ko-KR" altLang="en-US"/>
              <a:t>초기 학습률 </a:t>
            </a:r>
            <a:r>
              <a:rPr lang="en-US" altLang="ko-KR"/>
              <a:t>0.001, batch size 32</a:t>
            </a:r>
            <a:r>
              <a:rPr lang="ko-KR" altLang="en-US"/>
              <a:t>를 사용했습니다</a:t>
            </a:r>
            <a:r>
              <a:rPr lang="en-US" altLang="ko-KR"/>
              <a:t>. </a:t>
            </a:r>
            <a:r>
              <a:rPr lang="ko-KR" altLang="en-US"/>
              <a:t>최대 </a:t>
            </a:r>
            <a:r>
              <a:rPr lang="en-US" altLang="ko-KR"/>
              <a:t>50</a:t>
            </a:r>
            <a:r>
              <a:rPr lang="ko-KR" altLang="en-US"/>
              <a:t>회 학습하며 </a:t>
            </a:r>
            <a:r>
              <a:rPr lang="en-US" altLang="ko-KR"/>
              <a:t>validation loss</a:t>
            </a:r>
            <a:r>
              <a:rPr lang="ko-KR" altLang="en-US"/>
              <a:t>가 정체되면 학습률을 줄이고 계속 개선이 없으면 조기 종료하도록 구성했습니다</a:t>
            </a:r>
            <a:r>
              <a:rPr lang="en-US" altLang="ko-KR"/>
              <a:t>. </a:t>
            </a:r>
            <a:r>
              <a:rPr lang="ko-KR" altLang="en-US"/>
              <a:t>이번에는 마지막까지 </a:t>
            </a:r>
            <a:r>
              <a:rPr lang="en-US" altLang="ko-KR"/>
              <a:t>validation loss</a:t>
            </a:r>
            <a:r>
              <a:rPr lang="ko-KR" altLang="en-US"/>
              <a:t>가 개선되어 </a:t>
            </a:r>
            <a:r>
              <a:rPr lang="en-US" altLang="ko-KR"/>
              <a:t>50</a:t>
            </a:r>
            <a:r>
              <a:rPr lang="ko-KR" altLang="en-US"/>
              <a:t>회 완료했습니다</a:t>
            </a:r>
            <a:r>
              <a:rPr lang="en-US" altLang="ko-KR"/>
              <a:t>. </a:t>
            </a:r>
            <a:r>
              <a:rPr lang="ko-KR" altLang="en-US"/>
              <a:t>화면의 </a:t>
            </a:r>
            <a:r>
              <a:rPr lang="en-US" altLang="ko-KR"/>
              <a:t>val_f1 1.0</a:t>
            </a:r>
            <a:r>
              <a:rPr lang="ko-KR" altLang="en-US"/>
              <a:t>은 </a:t>
            </a:r>
            <a:r>
              <a:rPr lang="en-US" altLang="ko-KR"/>
              <a:t>validation </a:t>
            </a:r>
            <a:r>
              <a:rPr lang="ko-KR" altLang="en-US"/>
              <a:t>결과이며 최종 </a:t>
            </a:r>
            <a:r>
              <a:rPr lang="en-US" altLang="ko-KR"/>
              <a:t>test F1</a:t>
            </a:r>
            <a:r>
              <a:rPr lang="ko-KR" altLang="en-US"/>
              <a:t>과 평가 대상이 다릅니다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사용자 제공</a:t>
            </a:r>
            <a:r>
              <a:rPr lang="en-US" altLang="ko-KR"/>
              <a:t>: </a:t>
            </a:r>
            <a:r>
              <a:rPr lang="ko-KR" altLang="en-US"/>
              <a:t>스크린샷 </a:t>
            </a:r>
            <a:r>
              <a:rPr lang="en-US" altLang="ko-KR"/>
              <a:t>2026-10-05 233228.png. configs/model_demo.yaml </a:t>
            </a:r>
            <a:r>
              <a:rPr lang="ko-KR" altLang="en-US"/>
              <a:t>및 실험 </a:t>
            </a:r>
            <a:r>
              <a:rPr lang="en-US" altLang="ko-KR"/>
              <a:t>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956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 그래프의 </a:t>
            </a:r>
            <a:r>
              <a:rPr lang="en-US" altLang="ko-KR"/>
              <a:t>train loss</a:t>
            </a:r>
            <a:r>
              <a:rPr lang="ko-KR" altLang="en-US"/>
              <a:t>는 약 </a:t>
            </a:r>
            <a:r>
              <a:rPr lang="en-US" altLang="ko-KR"/>
              <a:t>0.676</a:t>
            </a:r>
            <a:r>
              <a:rPr lang="ko-KR" altLang="en-US"/>
              <a:t>에서 </a:t>
            </a:r>
            <a:r>
              <a:rPr lang="en-US" altLang="ko-KR"/>
              <a:t>0.021</a:t>
            </a:r>
            <a:r>
              <a:rPr lang="ko-KR" altLang="en-US"/>
              <a:t>로</a:t>
            </a:r>
            <a:r>
              <a:rPr lang="en-US" altLang="ko-KR"/>
              <a:t>, validation loss</a:t>
            </a:r>
            <a:r>
              <a:rPr lang="ko-KR" altLang="en-US"/>
              <a:t>는 </a:t>
            </a:r>
            <a:r>
              <a:rPr lang="en-US" altLang="ko-KR"/>
              <a:t>0.629</a:t>
            </a:r>
            <a:r>
              <a:rPr lang="ko-KR" altLang="en-US"/>
              <a:t>에서 </a:t>
            </a:r>
            <a:r>
              <a:rPr lang="en-US" altLang="ko-KR"/>
              <a:t>0.019</a:t>
            </a:r>
            <a:r>
              <a:rPr lang="ko-KR" altLang="en-US"/>
              <a:t>로 감소했습니다</a:t>
            </a:r>
            <a:r>
              <a:rPr lang="en-US" altLang="ko-KR"/>
              <a:t>. </a:t>
            </a:r>
            <a:r>
              <a:rPr lang="ko-KR" altLang="en-US"/>
              <a:t>두 곡선이 함께 내려가 합성 데이터에 대한 학습이 진행됨을 확인했습니다</a:t>
            </a:r>
            <a:r>
              <a:rPr lang="en-US" altLang="ko-KR"/>
              <a:t>. </a:t>
            </a:r>
            <a:r>
              <a:rPr lang="ko-KR" altLang="en-US"/>
              <a:t>마지막까지 개선되었기 때문에 </a:t>
            </a:r>
            <a:r>
              <a:rPr lang="en-US" altLang="ko-KR"/>
              <a:t>50</a:t>
            </a:r>
            <a:r>
              <a:rPr lang="ko-KR" altLang="en-US"/>
              <a:t>회가 최적 횟수라고 확정하지는 않았습니다</a:t>
            </a:r>
            <a:r>
              <a:rPr lang="en-US" altLang="ko-KR"/>
              <a:t>. </a:t>
            </a:r>
            <a:r>
              <a:rPr lang="ko-KR" altLang="en-US"/>
              <a:t>오른쪽 </a:t>
            </a:r>
            <a:r>
              <a:rPr lang="en-US" altLang="ko-KR"/>
              <a:t>test PR </a:t>
            </a:r>
            <a:r>
              <a:rPr lang="ko-KR" altLang="en-US"/>
              <a:t>곡선의 </a:t>
            </a:r>
            <a:r>
              <a:rPr lang="en-US" altLang="ko-KR"/>
              <a:t>LSTM PR-AUC</a:t>
            </a:r>
            <a:r>
              <a:rPr lang="ko-KR" altLang="en-US"/>
              <a:t>는 약 </a:t>
            </a:r>
            <a:r>
              <a:rPr lang="en-US" altLang="ko-KR"/>
              <a:t>0.9994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높은 면적만으로 개별 판정의 오경보가 없다고 볼 수 없어 혼동행렬과 </a:t>
            </a:r>
            <a:r>
              <a:rPr lang="en-US" altLang="ko-KR"/>
              <a:t>FN, FP</a:t>
            </a:r>
            <a:r>
              <a:rPr lang="ko-KR" altLang="en-US"/>
              <a:t>를 함께 확인합니다</a:t>
            </a:r>
            <a:r>
              <a:rPr lang="en-US" altLang="ko-KR"/>
              <a:t>. </a:t>
            </a:r>
            <a:r>
              <a:rPr lang="ko-KR" altLang="en-US"/>
              <a:t>판단 임계값은 </a:t>
            </a:r>
            <a:r>
              <a:rPr lang="en-US" altLang="ko-KR"/>
              <a:t>validation</a:t>
            </a:r>
            <a:r>
              <a:rPr lang="ko-KR" altLang="en-US"/>
              <a:t>에서 선택해 </a:t>
            </a:r>
            <a:r>
              <a:rPr lang="en-US" altLang="ko-KR"/>
              <a:t>test</a:t>
            </a:r>
            <a:r>
              <a:rPr lang="ko-KR" altLang="en-US"/>
              <a:t>에는 고정했습니다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artifacts/models/demo-20261005-233045/loss-and-pr.png, history.json, report.json. </a:t>
            </a:r>
            <a:r>
              <a:rPr lang="ko-KR" altLang="en-US"/>
              <a:t>이 그림은 합성 데이터 실험 결과입니다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764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 정상 시퀀스 </a:t>
            </a:r>
            <a:r>
              <a:rPr lang="en-US" altLang="ko-KR"/>
              <a:t>204</a:t>
            </a:r>
            <a:r>
              <a:rPr lang="ko-KR" altLang="en-US"/>
              <a:t>개 중 </a:t>
            </a:r>
            <a:r>
              <a:rPr lang="en-US" altLang="ko-KR"/>
              <a:t>158</a:t>
            </a:r>
            <a:r>
              <a:rPr lang="ko-KR" altLang="en-US"/>
              <a:t>개를 정상으로 판단했고 </a:t>
            </a:r>
            <a:r>
              <a:rPr lang="en-US" altLang="ko-KR"/>
              <a:t>46</a:t>
            </a:r>
            <a:r>
              <a:rPr lang="ko-KR" altLang="en-US"/>
              <a:t>개를 위험으로 판단했습니다</a:t>
            </a:r>
            <a:r>
              <a:rPr lang="en-US" altLang="ko-KR"/>
              <a:t>. </a:t>
            </a:r>
            <a:r>
              <a:rPr lang="ko-KR" altLang="en-US"/>
              <a:t>실제 위험 시퀀스 </a:t>
            </a:r>
            <a:r>
              <a:rPr lang="en-US" altLang="ko-KR"/>
              <a:t>90</a:t>
            </a:r>
            <a:r>
              <a:rPr lang="ko-KR" altLang="en-US"/>
              <a:t>개는 모두 위험으로 판단해 이번 </a:t>
            </a:r>
            <a:r>
              <a:rPr lang="en-US" altLang="ko-KR"/>
              <a:t>test</a:t>
            </a:r>
            <a:r>
              <a:rPr lang="ko-KR" altLang="en-US"/>
              <a:t>에서 미탐지는 </a:t>
            </a:r>
            <a:r>
              <a:rPr lang="en-US" altLang="ko-KR"/>
              <a:t>0</a:t>
            </a:r>
            <a:r>
              <a:rPr lang="ko-KR" altLang="en-US"/>
              <a:t>개입니다</a:t>
            </a:r>
            <a:r>
              <a:rPr lang="en-US" altLang="ko-KR"/>
              <a:t>. Recall</a:t>
            </a:r>
            <a:r>
              <a:rPr lang="ko-KR" altLang="en-US"/>
              <a:t>은 </a:t>
            </a:r>
            <a:r>
              <a:rPr lang="en-US" altLang="ko-KR"/>
              <a:t>100%, Precision</a:t>
            </a:r>
            <a:r>
              <a:rPr lang="ko-KR" altLang="en-US"/>
              <a:t>은 </a:t>
            </a:r>
            <a:r>
              <a:rPr lang="en-US" altLang="ko-KR"/>
              <a:t>66.18%, F1</a:t>
            </a:r>
            <a:r>
              <a:rPr lang="ko-KR" altLang="en-US"/>
              <a:t>은 </a:t>
            </a:r>
            <a:r>
              <a:rPr lang="en-US" altLang="ko-KR"/>
              <a:t>79.65%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위험 판단 </a:t>
            </a:r>
            <a:r>
              <a:rPr lang="en-US" altLang="ko-KR"/>
              <a:t>136</a:t>
            </a:r>
            <a:r>
              <a:rPr lang="ko-KR" altLang="en-US"/>
              <a:t>개 중 실제 위험은 </a:t>
            </a:r>
            <a:r>
              <a:rPr lang="en-US" altLang="ko-KR"/>
              <a:t>90</a:t>
            </a:r>
            <a:r>
              <a:rPr lang="ko-KR" altLang="en-US"/>
              <a:t>개이고 나머지 </a:t>
            </a:r>
            <a:r>
              <a:rPr lang="en-US" altLang="ko-KR"/>
              <a:t>46</a:t>
            </a:r>
            <a:r>
              <a:rPr lang="ko-KR" altLang="en-US"/>
              <a:t>개는 오경보입니다</a:t>
            </a:r>
            <a:r>
              <a:rPr lang="en-US" altLang="ko-KR"/>
              <a:t>. </a:t>
            </a:r>
            <a:r>
              <a:rPr lang="ko-KR" altLang="en-US"/>
              <a:t>정상 구간에 대한 오경보 비율은 </a:t>
            </a:r>
            <a:r>
              <a:rPr lang="en-US" altLang="ko-KR"/>
              <a:t>46 </a:t>
            </a:r>
            <a:r>
              <a:rPr lang="ko-KR" altLang="en-US"/>
              <a:t>나누기 </a:t>
            </a:r>
            <a:r>
              <a:rPr lang="en-US" altLang="ko-KR"/>
              <a:t>204</a:t>
            </a:r>
            <a:r>
              <a:rPr lang="ko-KR" altLang="en-US"/>
              <a:t>로 약 </a:t>
            </a:r>
            <a:r>
              <a:rPr lang="en-US" altLang="ko-KR"/>
              <a:t>22.55%</a:t>
            </a:r>
            <a:r>
              <a:rPr lang="ko-KR" altLang="en-US"/>
              <a:t>입니다</a:t>
            </a:r>
            <a:r>
              <a:rPr lang="en-US" altLang="ko-KR"/>
              <a:t>. Recall</a:t>
            </a:r>
            <a:r>
              <a:rPr lang="ko-KR" altLang="en-US"/>
              <a:t>만으로 모델의 성능이 충분하다고 판단할 수 없으며 오경보 개선이 필요합니다</a:t>
            </a:r>
            <a:r>
              <a:rPr lang="en-US" altLang="ko-KR"/>
              <a:t>. </a:t>
            </a:r>
            <a:r>
              <a:rPr lang="ko-KR" altLang="en-US"/>
              <a:t>여기서 개수는 시퀀스 수이며 실제 낙뢰 횟수가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artifacts/models/demo-20261005-233045/lstm-confusion.png </a:t>
            </a:r>
            <a:r>
              <a:rPr lang="ko-KR" altLang="en-US"/>
              <a:t>및 </a:t>
            </a:r>
            <a:r>
              <a:rPr lang="en-US" altLang="ko-KR"/>
              <a:t>report.json models.lstm.test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715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Logistic Regression</a:t>
            </a:r>
            <a:r>
              <a:rPr lang="ko-KR" altLang="en-US"/>
              <a:t>은 이번 합성 데이터에서 </a:t>
            </a:r>
            <a:r>
              <a:rPr lang="en-US" altLang="ko-KR"/>
              <a:t>test </a:t>
            </a:r>
            <a:r>
              <a:rPr lang="ko-KR" altLang="en-US"/>
              <a:t>시퀀스를 모두 올바르게 분류했습니다</a:t>
            </a:r>
            <a:r>
              <a:rPr lang="en-US" altLang="ko-KR"/>
              <a:t>. Validation</a:t>
            </a:r>
            <a:r>
              <a:rPr lang="ko-KR" altLang="en-US"/>
              <a:t>에서도 두 모델의 점수가 같아 단순한 </a:t>
            </a:r>
            <a:r>
              <a:rPr lang="en-US" altLang="ko-KR"/>
              <a:t>Logistic Regression</a:t>
            </a:r>
            <a:r>
              <a:rPr lang="ko-KR" altLang="en-US"/>
              <a:t>을 추천했습니다</a:t>
            </a:r>
            <a:r>
              <a:rPr lang="en-US" altLang="ko-KR"/>
              <a:t>. </a:t>
            </a:r>
            <a:r>
              <a:rPr lang="ko-KR" altLang="en-US"/>
              <a:t>추천은 </a:t>
            </a:r>
            <a:r>
              <a:rPr lang="en-US" altLang="ko-KR"/>
              <a:t>test </a:t>
            </a:r>
            <a:r>
              <a:rPr lang="ko-KR" altLang="en-US"/>
              <a:t>결과를 보고 선택한 것이 아닙니다</a:t>
            </a:r>
            <a:r>
              <a:rPr lang="en-US" altLang="ko-KR"/>
              <a:t>. </a:t>
            </a:r>
            <a:r>
              <a:rPr lang="ko-KR" altLang="en-US"/>
              <a:t>이번 실험으로 </a:t>
            </a:r>
            <a:r>
              <a:rPr lang="en-US" altLang="ko-KR"/>
              <a:t>LSTM</a:t>
            </a:r>
            <a:r>
              <a:rPr lang="ko-KR" altLang="en-US"/>
              <a:t>이 더 우수하다는 결론을 내릴 수는 없습니다</a:t>
            </a:r>
            <a:r>
              <a:rPr lang="en-US" altLang="ko-KR"/>
              <a:t>. </a:t>
            </a:r>
            <a:r>
              <a:rPr lang="ko-KR" altLang="en-US"/>
              <a:t>실제 데이터에서도 동일한 조건으로 비교하여 시간 패턴을 학습하는 </a:t>
            </a:r>
            <a:r>
              <a:rPr lang="en-US" altLang="ko-KR"/>
              <a:t>LSTM</a:t>
            </a:r>
            <a:r>
              <a:rPr lang="ko-KR" altLang="en-US"/>
              <a:t>의 이점이 있는지 검증해야 합니다</a:t>
            </a:r>
            <a:r>
              <a:rPr lang="en-US" altLang="ko-KR"/>
              <a:t>. </a:t>
            </a:r>
            <a:r>
              <a:rPr lang="ko-KR" altLang="en-US"/>
              <a:t>일반화된 실제 장치 성능을 주장하는 결과는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artifacts/models/demo-20261005-233045/logistic-confusion.png </a:t>
            </a:r>
            <a:r>
              <a:rPr lang="ko-KR" altLang="en-US"/>
              <a:t>및 </a:t>
            </a:r>
            <a:r>
              <a:rPr lang="en-US" altLang="ko-KR"/>
              <a:t>report.json validation_recommendation, models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218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평가가 정상 작동하는 프로토타입을 구현했습니다</a:t>
            </a:r>
            <a:r>
              <a:rPr lang="en-US" altLang="ko-KR"/>
              <a:t>. </a:t>
            </a:r>
            <a:r>
              <a:rPr lang="ko-KR" altLang="en-US"/>
              <a:t>전체 자동 테스트 </a:t>
            </a:r>
            <a:r>
              <a:rPr lang="en-US" altLang="ko-KR"/>
              <a:t>125</a:t>
            </a:r>
            <a:r>
              <a:rPr lang="ko-KR" altLang="en-US"/>
              <a:t>개가 통과했고 저장한 모델을 다시 불러온 평가 결과도 일치했습니다</a:t>
            </a:r>
            <a:r>
              <a:rPr lang="en-US" altLang="ko-KR"/>
              <a:t>. </a:t>
            </a:r>
            <a:r>
              <a:rPr lang="ko-KR" altLang="en-US"/>
              <a:t>링 버퍼는 고정 크기로 최신 특징을 유지하고 유효한 시퀀스를 생성하는 기능까지 구현했습니다</a:t>
            </a:r>
            <a:r>
              <a:rPr lang="en-US" altLang="ko-KR"/>
              <a:t>. </a:t>
            </a:r>
            <a:r>
              <a:rPr lang="ko-KR" altLang="en-US"/>
              <a:t>다만 이번 데이터는 합성 데이터이고 </a:t>
            </a:r>
            <a:r>
              <a:rPr lang="en-US" altLang="ko-KR"/>
              <a:t>test </a:t>
            </a:r>
            <a:r>
              <a:rPr lang="ko-KR" altLang="en-US"/>
              <a:t>위험 이벤트 그룹이 두 개뿐입니다</a:t>
            </a:r>
            <a:r>
              <a:rPr lang="en-US" altLang="ko-KR"/>
              <a:t>. </a:t>
            </a:r>
            <a:r>
              <a:rPr lang="ko-KR" altLang="en-US"/>
              <a:t>위험 시퀀스 </a:t>
            </a:r>
            <a:r>
              <a:rPr lang="en-US" altLang="ko-KR"/>
              <a:t>90</a:t>
            </a:r>
            <a:r>
              <a:rPr lang="ko-KR" altLang="en-US"/>
              <a:t>개는 독립적인 실제 낙뢰 사례 </a:t>
            </a:r>
            <a:r>
              <a:rPr lang="en-US" altLang="ko-KR"/>
              <a:t>90</a:t>
            </a:r>
            <a:r>
              <a:rPr lang="ko-KR" altLang="en-US"/>
              <a:t>개가 아닙니다</a:t>
            </a:r>
            <a:r>
              <a:rPr lang="en-US" altLang="ko-KR"/>
              <a:t>. </a:t>
            </a:r>
            <a:r>
              <a:rPr lang="ko-KR" altLang="en-US"/>
              <a:t>현재 데이터는 학습</a:t>
            </a:r>
            <a:r>
              <a:rPr lang="en-US" altLang="ko-KR"/>
              <a:t>·</a:t>
            </a:r>
            <a:r>
              <a:rPr lang="ko-KR" altLang="en-US"/>
              <a:t>평가 프로그램의 기능 검증에 의미가 있으며 실제 낙뢰 감지 성능의 근거로는 추가 실측 평가가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 </a:t>
            </a:r>
            <a:r>
              <a:rPr lang="ko-KR" altLang="en-US"/>
              <a:t>및 </a:t>
            </a:r>
            <a:r>
              <a:rPr lang="en-US" altLang="ko-KR"/>
              <a:t>artifacts/reports/training-design-verification.json. </a:t>
            </a:r>
            <a:r>
              <a:rPr lang="ko-KR" altLang="en-US"/>
              <a:t>실험 </a:t>
            </a:r>
            <a:r>
              <a:rPr lang="en-US" altLang="ko-KR"/>
              <a:t>report.json</a:t>
            </a:r>
            <a:r>
              <a:rPr lang="ko-KR" altLang="en-US"/>
              <a:t>의 </a:t>
            </a:r>
            <a:r>
              <a:rPr lang="en-US" altLang="ko-KR"/>
              <a:t>event_summary, synthetic_demo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69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앞으로는 실제 측정 데이터와 확인된 정답 </a:t>
            </a:r>
            <a:r>
              <a:rPr lang="en-US" altLang="ko-KR"/>
              <a:t>label, </a:t>
            </a:r>
            <a:r>
              <a:rPr lang="ko-KR" altLang="en-US"/>
              <a:t>센서 기준값의 의미를 바탕으로 표준 설정에 맞춰 전처리와 학습을 다시 진행하겠습니다</a:t>
            </a:r>
            <a:r>
              <a:rPr lang="en-US" altLang="ko-KR"/>
              <a:t>. </a:t>
            </a:r>
            <a:r>
              <a:rPr lang="ko-KR" altLang="en-US"/>
              <a:t>표준 프로파일의 </a:t>
            </a:r>
            <a:r>
              <a:rPr lang="en-US" altLang="ko-KR"/>
              <a:t>6.4</a:t>
            </a:r>
            <a:r>
              <a:rPr lang="ko-KR" altLang="en-US"/>
              <a:t>초 입력은 검증할 초기 후보이며 확정된 최적 길이가 아닙니다</a:t>
            </a:r>
            <a:r>
              <a:rPr lang="en-US" altLang="ko-KR"/>
              <a:t>. </a:t>
            </a:r>
            <a:r>
              <a:rPr lang="ko-KR" altLang="en-US"/>
              <a:t>온습도와 같은 느린 센서는 현재 상태와 측정값 나이를 사용하며 긴 시간 추세를 학습하려면 별도 맥락이 필요합니다</a:t>
            </a:r>
            <a:r>
              <a:rPr lang="en-US" altLang="ko-KR"/>
              <a:t>. </a:t>
            </a:r>
            <a:r>
              <a:rPr lang="ko-KR" altLang="en-US"/>
              <a:t>이후에는 모델 경량화와 </a:t>
            </a:r>
            <a:r>
              <a:rPr lang="en-US" altLang="ko-KR"/>
              <a:t>TFLite </a:t>
            </a:r>
            <a:r>
              <a:rPr lang="ko-KR" altLang="en-US"/>
              <a:t>또는 </a:t>
            </a:r>
            <a:r>
              <a:rPr lang="en-US" altLang="ko-KR"/>
              <a:t>TFLite Micro </a:t>
            </a:r>
            <a:r>
              <a:rPr lang="ko-KR" altLang="en-US"/>
              <a:t>변환</a:t>
            </a:r>
            <a:r>
              <a:rPr lang="en-US" altLang="ko-KR"/>
              <a:t>, </a:t>
            </a:r>
            <a:r>
              <a:rPr lang="ko-KR" altLang="en-US"/>
              <a:t>링 버퍼와 추론 연결을 검토하고 목표 </a:t>
            </a:r>
            <a:r>
              <a:rPr lang="en-US" altLang="ko-KR"/>
              <a:t>MCU</a:t>
            </a:r>
            <a:r>
              <a:rPr lang="ko-KR" altLang="en-US"/>
              <a:t>에서 메모리와 실행시간을 실제로 측정하겠습니다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전처리 계획을 실제 학습</a:t>
            </a:r>
            <a:r>
              <a:rPr lang="en-US" altLang="ko-KR"/>
              <a:t>·</a:t>
            </a:r>
            <a:r>
              <a:rPr lang="ko-KR" altLang="en-US"/>
              <a:t>평가 프로그램으로 발전시키고 결과와 한계를 확인하는 단계까지 수행했습니다</a:t>
            </a:r>
            <a:r>
              <a:rPr lang="en-US" altLang="ko-KR"/>
              <a:t>. </a:t>
            </a:r>
            <a:r>
              <a:rPr lang="ko-KR" altLang="en-US"/>
              <a:t>이상으로 발표를 마치겠습니다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docs/training-design.md, docs/sensor-standard.md </a:t>
            </a:r>
            <a:r>
              <a:rPr lang="ko-KR" altLang="en-US"/>
              <a:t>및 대화에서 확인한 임베디드 최종 목표</a:t>
            </a:r>
            <a:r>
              <a:rPr lang="en-US" altLang="ko-KR"/>
              <a:t>. </a:t>
            </a:r>
            <a:r>
              <a:rPr lang="ko-KR" altLang="en-US"/>
              <a:t>후속 계획이며 완료 성과가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10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7ACEB-0604-4D11-3139-3E2F8A60E857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9C572-ED3F-2ED5-7B5E-0228A98B48DE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851E9-7F7B-1F79-000F-320574309CAE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구현 및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AB2B4-5FC0-905C-9CE6-2CB9208EA270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23F78-A5CA-5F93-5258-DB8B41AAAC7D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2026. 10. 07.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51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2BDA3-AA2E-E5BB-5F59-462C383FB69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센서 범위와 기준값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E8807-538E-7362-4D54-84C592501DF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기준값 기록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판정용 의미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 방향은 확인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216D9-2ED8-5FCB-9DFB-EED120262BD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BED5B3-C443-9FBC-F807-4B31AA214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14203"/>
              </p:ext>
            </p:extLst>
          </p:nvPr>
        </p:nvGraphicFramePr>
        <p:xfrm>
          <a:off x="685800" y="1397000"/>
          <a:ext cx="10668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5437166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56383775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72333788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085889961"/>
                    </a:ext>
                  </a:extLst>
                </a:gridCol>
              </a:tblGrid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Threshold / </a:t>
                      </a:r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주기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014663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8865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7582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mA = 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8404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6712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9231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3739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0776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6675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63007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619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9E4778-29D8-C03B-586A-7D307395E6BB}"/>
              </a:ext>
            </a:extLst>
          </p:cNvPr>
          <p:cNvSpPr txBox="1"/>
          <p:nvPr/>
        </p:nvSpPr>
        <p:spPr>
          <a:xfrm>
            <a:off x="685800" y="588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</a:t>
            </a:r>
            <a:r>
              <a:rPr lang="en-US" altLang="ko-KR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 ℃: </a:t>
            </a: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절대온도인지 상승량인지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0413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58073-F4B8-3216-7B40-86B5FA51CBAA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74A24-ED44-596A-67EA-397C3732B42C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실행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합성 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프로파일의 재학습은 후속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61465-A879-9EAD-A31B-7F3604827A0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880CC-BD1A-F28C-D72C-F977EFE1259E}"/>
              </a:ext>
            </a:extLst>
          </p:cNvPr>
          <p:cNvSpPr txBox="1"/>
          <p:nvPr/>
        </p:nvSpPr>
        <p:spPr>
          <a:xfrm>
            <a:off x="685800" y="1397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882</a:t>
            </a:r>
            <a:r>
              <a:rPr lang="ko-KR" altLang="en-US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E96CB7-3672-3823-DA6E-F78614F08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75161"/>
              </p:ext>
            </p:extLst>
          </p:nvPr>
        </p:nvGraphicFramePr>
        <p:xfrm>
          <a:off x="685800" y="2514600"/>
          <a:ext cx="106680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39441590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72316605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833756729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38899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441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2496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45016F-B8B1-65E1-179B-A98F74051EE3}"/>
              </a:ext>
            </a:extLst>
          </p:cNvPr>
          <p:cNvSpPr txBox="1"/>
          <p:nvPr/>
        </p:nvSpPr>
        <p:spPr>
          <a:xfrm>
            <a:off x="685800" y="4127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20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66BB1-B8EE-17EF-70F5-9D9D11F19FF3}"/>
              </a:ext>
            </a:extLst>
          </p:cNvPr>
          <p:cNvSpPr txBox="1"/>
          <p:nvPr/>
        </p:nvSpPr>
        <p:spPr>
          <a:xfrm>
            <a:off x="685800" y="4876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ms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간격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1.6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입력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분리와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train-only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정규화</a:t>
            </a:r>
          </a:p>
        </p:txBody>
      </p:sp>
    </p:spTree>
    <p:extLst>
      <p:ext uri="{BB962C8B-B14F-4D97-AF65-F5344CB8AC3E}">
        <p14:creationId xmlns:p14="http://schemas.microsoft.com/office/powerpoint/2010/main" val="426818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0B8005-A056-8290-7F0A-5D58CB8EE05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구조와 학습 실행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2C8E9-F32D-3D11-F4FB-7D064F860FE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val_f1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성능은 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C944A-0990-9A3B-B1D6-D963370D66A1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D88E12-7C1A-CB44-FC9B-3D573EE4D4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20" y="1536700"/>
            <a:ext cx="7024760" cy="4279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5D83E0-FAAB-1774-4B14-AC4C28CE1F05}"/>
              </a:ext>
            </a:extLst>
          </p:cNvPr>
          <p:cNvSpPr txBox="1"/>
          <p:nvPr/>
        </p:nvSpPr>
        <p:spPr>
          <a:xfrm>
            <a:off x="8305800" y="15240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단방향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endParaRPr lang="ko-KR" altLang="en-US" sz="25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5FFA0-2E73-0B47-6289-4E9694D88EC0}"/>
              </a:ext>
            </a:extLst>
          </p:cNvPr>
          <p:cNvSpPr txBox="1"/>
          <p:nvPr/>
        </p:nvSpPr>
        <p:spPr>
          <a:xfrm>
            <a:off x="8305800" y="23241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 16, 1 layer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Adam 0.001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Batch 32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 epochs</a:t>
            </a:r>
            <a:endParaRPr lang="ko-KR" altLang="en-US" sz="23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F8FED-6D38-A9CD-FF57-ED6F5B7257F9}"/>
              </a:ext>
            </a:extLst>
          </p:cNvPr>
          <p:cNvSpPr txBox="1"/>
          <p:nvPr/>
        </p:nvSpPr>
        <p:spPr>
          <a:xfrm>
            <a:off x="8305800" y="49149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학습률 자동 감소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Early stopping</a:t>
            </a:r>
            <a:endParaRPr lang="ko-KR" altLang="en-US" sz="20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71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2CB38-F854-6623-2547-B9A08C6C8013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2BF24-A935-9DEB-B73A-479CBD155218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회까지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횟수 도달은 수렴 보장이 아님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BC28B-8FE4-115B-2D30-670D0528E1A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D462E0-C324-F3EE-72E1-7A422CA09B1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308100"/>
            <a:ext cx="10795000" cy="431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6AE88F-8225-9854-42C3-B13495F2FE90}"/>
              </a:ext>
            </a:extLst>
          </p:cNvPr>
          <p:cNvSpPr txBox="1"/>
          <p:nvPr/>
        </p:nvSpPr>
        <p:spPr>
          <a:xfrm>
            <a:off x="825500" y="57912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</a:t>
            </a:r>
            <a:r>
              <a:rPr lang="en-US" altLang="ko-KR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loss  0.021</a:t>
            </a:r>
            <a:endParaRPr lang="ko-KR" altLang="en-US" sz="20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CD12F-9BDF-2373-ECF9-760B7837AD18}"/>
              </a:ext>
            </a:extLst>
          </p:cNvPr>
          <p:cNvSpPr txBox="1"/>
          <p:nvPr/>
        </p:nvSpPr>
        <p:spPr>
          <a:xfrm>
            <a:off x="6350000" y="57912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</a:t>
            </a:r>
            <a:r>
              <a:rPr lang="en-US" altLang="ko-KR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 0.019</a:t>
            </a:r>
            <a:endParaRPr lang="ko-KR" altLang="en-US" sz="20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2062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03D22-0D4C-D963-6258-2FC97F6975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미탐지와 오경보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DB452-28F5-4B48-94E2-131F410BD4D7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294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6C3FA-E39A-C315-3CB6-08064E75246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6B42A1-3901-54E5-064A-0F85F95F0D6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371600"/>
            <a:ext cx="4648200" cy="4648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A00E15-5C19-4832-383D-E5C8CD176FB0}"/>
              </a:ext>
            </a:extLst>
          </p:cNvPr>
          <p:cNvSpPr txBox="1"/>
          <p:nvPr/>
        </p:nvSpPr>
        <p:spPr>
          <a:xfrm>
            <a:off x="6438900" y="14732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12347-B022-B87F-53B7-3BAF18F65F4E}"/>
              </a:ext>
            </a:extLst>
          </p:cNvPr>
          <p:cNvSpPr txBox="1"/>
          <p:nvPr/>
        </p:nvSpPr>
        <p:spPr>
          <a:xfrm>
            <a:off x="6438900" y="23495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</a:t>
            </a:r>
            <a:r>
              <a:rPr lang="en-US" altLang="ko-KR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22C45-3651-5F40-13B9-EBD7E9A7C82B}"/>
              </a:ext>
            </a:extLst>
          </p:cNvPr>
          <p:cNvSpPr txBox="1"/>
          <p:nvPr/>
        </p:nvSpPr>
        <p:spPr>
          <a:xfrm>
            <a:off x="6464300" y="32004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중 오경보 </a:t>
            </a:r>
            <a:r>
              <a:rPr lang="en-US" altLang="ko-KR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22.55%</a:t>
            </a:r>
            <a:endParaRPr lang="ko-KR" altLang="en-US" sz="2300">
              <a:solidFill>
                <a:srgbClr val="BB3C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AA88D64-B5D2-7E8F-9EBA-0C5B594BF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890242"/>
              </p:ext>
            </p:extLst>
          </p:nvPr>
        </p:nvGraphicFramePr>
        <p:xfrm>
          <a:off x="6451600" y="4102100"/>
          <a:ext cx="4876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399030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5571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0613355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Precision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Recall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25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66.18%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79.65%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45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9A2AFA4-1FC8-3177-DE2D-26DEC897F9C4}"/>
              </a:ext>
            </a:extLst>
          </p:cNvPr>
          <p:cNvSpPr txBox="1"/>
          <p:nvPr/>
        </p:nvSpPr>
        <p:spPr>
          <a:xfrm>
            <a:off x="6464300" y="55118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판단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136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중 실제 위험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2999512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156D7-C312-9428-405B-3243609AE7E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Regression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7CC6B-BD90-43CB-45F3-6B0C60EBEC11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합성 데이터에서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추가 복잡성이 주는 이점은 미확인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80A9F-D601-8E9D-63B1-A8F4D0767E8E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A6B579-4A70-B3BA-3572-66422DCF1F8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50" y="1409700"/>
            <a:ext cx="4470400" cy="4470400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A2A5CB-B68F-4BA2-E819-CE74744E8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85804"/>
              </p:ext>
            </p:extLst>
          </p:nvPr>
        </p:nvGraphicFramePr>
        <p:xfrm>
          <a:off x="5676900" y="1917700"/>
          <a:ext cx="60325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82486772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27357065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07985640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01198864"/>
                    </a:ext>
                  </a:extLst>
                </a:gridCol>
              </a:tblGrid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31195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Logistic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1.0000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59827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LSTM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0.7965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7193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DAC337-49C3-B96C-DA0A-9E30BC9D8071}"/>
              </a:ext>
            </a:extLst>
          </p:cNvPr>
          <p:cNvSpPr txBox="1"/>
          <p:nvPr/>
        </p:nvSpPr>
        <p:spPr>
          <a:xfrm>
            <a:off x="5676900" y="43053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동률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2A456-0623-B62D-2F55-5DB86A670764}"/>
              </a:ext>
            </a:extLst>
          </p:cNvPr>
          <p:cNvSpPr txBox="1"/>
          <p:nvPr/>
        </p:nvSpPr>
        <p:spPr>
          <a:xfrm>
            <a:off x="5676900" y="49657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단순한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우선 추천</a:t>
            </a:r>
          </a:p>
        </p:txBody>
      </p:sp>
    </p:spTree>
    <p:extLst>
      <p:ext uri="{BB962C8B-B14F-4D97-AF65-F5344CB8AC3E}">
        <p14:creationId xmlns:p14="http://schemas.microsoft.com/office/powerpoint/2010/main" val="2878658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CCD1C-3EF9-3754-847D-7E973E3EFB6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성과와 검증 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3BFF6-9939-5BDC-6FAB-2F413D91559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CD8FC-775D-D39C-F8AA-559E7038A0E4}"/>
              </a:ext>
            </a:extLst>
          </p:cNvPr>
          <p:cNvSpPr txBox="1"/>
          <p:nvPr/>
        </p:nvSpPr>
        <p:spPr>
          <a:xfrm>
            <a:off x="685800" y="15113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52114-F62A-9FF7-2B5B-3B12AE744708}"/>
              </a:ext>
            </a:extLst>
          </p:cNvPr>
          <p:cNvSpPr txBox="1"/>
          <p:nvPr/>
        </p:nvSpPr>
        <p:spPr>
          <a:xfrm>
            <a:off x="685800" y="24130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125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저장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재평가 일치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생성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CF49-A051-E5EC-E5C9-9573E3557D62}"/>
              </a:ext>
            </a:extLst>
          </p:cNvPr>
          <p:cNvSpPr txBox="1"/>
          <p:nvPr/>
        </p:nvSpPr>
        <p:spPr>
          <a:xfrm>
            <a:off x="6553200" y="15113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데이터의 한계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B50EE-10CC-0311-DF76-8EC31ABB8780}"/>
              </a:ext>
            </a:extLst>
          </p:cNvPr>
          <p:cNvSpPr txBox="1"/>
          <p:nvPr/>
        </p:nvSpPr>
        <p:spPr>
          <a:xfrm>
            <a:off x="6553200" y="24130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실험</a:t>
            </a:r>
          </a:p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이벤트 그룹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시퀀스 포함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2B3EE-5B10-EC59-4788-B3726F1CE16B}"/>
              </a:ext>
            </a:extLst>
          </p:cNvPr>
          <p:cNvSpPr txBox="1"/>
          <p:nvPr/>
        </p:nvSpPr>
        <p:spPr>
          <a:xfrm>
            <a:off x="685800" y="51435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검증 완료</a:t>
            </a:r>
            <a:r>
              <a:rPr lang="en-US" altLang="ko-KR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낙뢰 성능은 실측 평가 필요</a:t>
            </a:r>
          </a:p>
        </p:txBody>
      </p:sp>
    </p:spTree>
    <p:extLst>
      <p:ext uri="{BB962C8B-B14F-4D97-AF65-F5344CB8AC3E}">
        <p14:creationId xmlns:p14="http://schemas.microsoft.com/office/powerpoint/2010/main" val="77410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6D2C5-F0B9-93AA-51E2-3A8BEA8A855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검증과 임베디드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953B-D38C-E0CC-DA1F-CE549E248187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EB72F-329E-B16B-7622-87114A54F57B}"/>
              </a:ext>
            </a:extLst>
          </p:cNvPr>
          <p:cNvSpPr txBox="1"/>
          <p:nvPr/>
        </p:nvSpPr>
        <p:spPr>
          <a:xfrm>
            <a:off x="685800" y="14859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1D93-D117-5399-156E-CE5F50C7A468}"/>
              </a:ext>
            </a:extLst>
          </p:cNvPr>
          <p:cNvSpPr txBox="1"/>
          <p:nvPr/>
        </p:nvSpPr>
        <p:spPr>
          <a:xfrm>
            <a:off x="685800" y="22987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단위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주기와 정답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조건에서 두 모델 재학습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비교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43A82-3D4F-8313-2F34-D8A9065E4C9C}"/>
              </a:ext>
            </a:extLst>
          </p:cNvPr>
          <p:cNvSpPr txBox="1"/>
          <p:nvPr/>
        </p:nvSpPr>
        <p:spPr>
          <a:xfrm>
            <a:off x="685800" y="3937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임베디드 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554FB-1A3D-D357-7A72-F8653E354601}"/>
              </a:ext>
            </a:extLst>
          </p:cNvPr>
          <p:cNvSpPr txBox="1"/>
          <p:nvPr/>
        </p:nvSpPr>
        <p:spPr>
          <a:xfrm>
            <a:off x="685800" y="4749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경량화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 및 링 버퍼 연결</a:t>
            </a:r>
          </a:p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메모리와 실행시간 실측</a:t>
            </a:r>
          </a:p>
        </p:txBody>
      </p:sp>
    </p:spTree>
    <p:extLst>
      <p:ext uri="{BB962C8B-B14F-4D97-AF65-F5344CB8AC3E}">
        <p14:creationId xmlns:p14="http://schemas.microsoft.com/office/powerpoint/2010/main" val="68705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1399</Words>
  <Application>Microsoft Office PowerPoint</Application>
  <PresentationFormat>와이드스크린</PresentationFormat>
  <Paragraphs>167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1</cp:revision>
  <dcterms:created xsi:type="dcterms:W3CDTF">2026-10-06T19:07:32Z</dcterms:created>
  <dcterms:modified xsi:type="dcterms:W3CDTF">2026-10-06T19:14:04Z</dcterms:modified>
</cp:coreProperties>
</file>